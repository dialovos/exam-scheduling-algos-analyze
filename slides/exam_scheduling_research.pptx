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7C5FE5-52AD-4634-9AAF-B29525EAADA9}" v="2" dt="2026-04-22T05:26:30.5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306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ang Le" userId="12458f32aff32e49" providerId="LiveId" clId="{7D7A4E7E-1528-4E6A-8A43-1A20864013E4}"/>
    <pc:docChg chg="modSld">
      <pc:chgData name="Hoang Le" userId="12458f32aff32e49" providerId="LiveId" clId="{7D7A4E7E-1528-4E6A-8A43-1A20864013E4}" dt="2026-04-22T05:26:30.538" v="1"/>
      <pc:docMkLst>
        <pc:docMk/>
      </pc:docMkLst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57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58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59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60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61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62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63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64"/>
        </pc:sldMkLst>
      </pc:sldChg>
      <pc:sldChg chg="modTransition">
        <pc:chgData name="Hoang Le" userId="12458f32aff32e49" providerId="LiveId" clId="{7D7A4E7E-1528-4E6A-8A43-1A20864013E4}" dt="2026-04-22T05:26:30.538" v="1"/>
        <pc:sldMkLst>
          <pc:docMk/>
          <pc:sldMk cId="0" sldId="265"/>
        </pc:sldMkLst>
      </pc:sldChg>
      <pc:sldChg chg="modTransition">
        <pc:chgData name="Hoang Le" userId="12458f32aff32e49" providerId="LiveId" clId="{7D7A4E7E-1528-4E6A-8A43-1A20864013E4}" dt="2026-04-22T05:26:13.917" v="0"/>
        <pc:sldMkLst>
          <pc:docMk/>
          <pc:sldMk cId="0" sldId="266"/>
        </pc:sldMkLst>
      </pc:sldChg>
      <pc:sldChg chg="modTransition">
        <pc:chgData name="Hoang Le" userId="12458f32aff32e49" providerId="LiveId" clId="{7D7A4E7E-1528-4E6A-8A43-1A20864013E4}" dt="2026-04-22T05:26:13.917" v="0"/>
        <pc:sldMkLst>
          <pc:docMk/>
          <pc:sldMk cId="0" sldId="267"/>
        </pc:sldMkLst>
      </pc:sldChg>
      <pc:sldChg chg="modTransition">
        <pc:chgData name="Hoang Le" userId="12458f32aff32e49" providerId="LiveId" clId="{7D7A4E7E-1528-4E6A-8A43-1A20864013E4}" dt="2026-04-22T05:26:13.917" v="0"/>
        <pc:sldMkLst>
          <pc:docMk/>
          <pc:sldMk cId="0" sldId="268"/>
        </pc:sldMkLst>
      </pc:sldChg>
      <pc:sldChg chg="modTransition">
        <pc:chgData name="Hoang Le" userId="12458f32aff32e49" providerId="LiveId" clId="{7D7A4E7E-1528-4E6A-8A43-1A20864013E4}" dt="2026-04-22T05:26:13.917" v="0"/>
        <pc:sldMkLst>
          <pc:docMk/>
          <pc:sldMk cId="0" sldId="269"/>
        </pc:sldMkLst>
      </pc:sldChg>
      <pc:sldChg chg="modTransition">
        <pc:chgData name="Hoang Le" userId="12458f32aff32e49" providerId="LiveId" clId="{7D7A4E7E-1528-4E6A-8A43-1A20864013E4}" dt="2026-04-22T05:26:13.917" v="0"/>
        <pc:sldMkLst>
          <pc:docMk/>
          <pc:sldMk cId="0" sldId="270"/>
        </pc:sldMkLst>
      </pc:sldChg>
      <pc:sldChg chg="modTransition">
        <pc:chgData name="Hoang Le" userId="12458f32aff32e49" providerId="LiveId" clId="{7D7A4E7E-1528-4E6A-8A43-1A20864013E4}" dt="2026-04-22T05:26:13.917" v="0"/>
        <pc:sldMkLst>
          <pc:docMk/>
          <pc:sldMk cId="0" sldId="27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CSC 2400   ·   TERM PROJECT   ·   APRIL 2026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A5A092"/>
                </a:solidFill>
                <a:latin typeface="Georgia"/>
              </a:rPr>
              <a:t>№ 01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5A092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9441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D4A63F"/>
                </a:solidFill>
                <a:latin typeface="Calibri"/>
              </a:rPr>
              <a:t>TENNESSEE TECH</a:t>
            </a:r>
            <a:r>
              <a:rPr sz="1100" b="1" i="0" dirty="0">
                <a:solidFill>
                  <a:srgbClr val="D4A63F"/>
                </a:solidFill>
                <a:latin typeface="Calibri"/>
              </a:rPr>
              <a:t> UNIVERSITY   ·   DEPARTMENT OF COMPUTER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2240280"/>
            <a:ext cx="914400" cy="25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110944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0" b="1" i="0" dirty="0">
                <a:solidFill>
                  <a:srgbClr val="F5EFE1"/>
                </a:solidFill>
                <a:latin typeface="Georgia"/>
              </a:rPr>
              <a:t>Exam Timetabling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A5A092"/>
                </a:solidFill>
                <a:latin typeface="Georgia"/>
              </a:rPr>
              <a:t>Benchmarking thirteen algorithms on the ITC 2007 examination 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67247" y="4709160"/>
            <a:ext cx="457200" cy="19050"/>
          </a:xfrm>
          <a:prstGeom prst="rect">
            <a:avLst/>
          </a:prstGeom>
          <a:solidFill>
            <a:srgbClr val="A5A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F5EFE1"/>
                </a:solidFill>
                <a:latin typeface="Georgia"/>
              </a:rPr>
              <a:t>Hoang Le   ·   Ian Cronin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A5A092"/>
                </a:solidFill>
                <a:latin typeface="Calibri"/>
              </a:rPr>
              <a:t>APRIL 2026   ·   CSC 2400   ·   TERM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E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THE PROBLEM   ·   CAPACITATED EXAM TIMETABLING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02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937"/>
                </a:solidFill>
                <a:latin typeface="Georgia"/>
              </a:rPr>
              <a:t>Assign every exam to a (period, room) pair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6B7280"/>
                </a:solidFill>
                <a:latin typeface="Georgia"/>
              </a:rPr>
              <a:t>minimizing a single penalty term, subject to hard constraints.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OBJECTIVE   ·   fitness  =  hard × 100 000  +  soft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5372100" cy="914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5372100" cy="3017520"/>
          </a:xfrm>
          <a:prstGeom prst="rect">
            <a:avLst/>
          </a:prstGeom>
          <a:solidFill>
            <a:srgbClr val="F5EFE1"/>
          </a:solidFill>
          <a:ln>
            <a:noFill/>
          </a:ln>
          <a:effectLst>
            <a:outerShdw blurRad="152400" dist="381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48234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24938"/>
                </a:solidFill>
                <a:latin typeface="Calibri"/>
              </a:rPr>
              <a:t>HARD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600" b="1" i="0">
                <a:solidFill>
                  <a:srgbClr val="D24938"/>
                </a:solidFill>
                <a:latin typeface="Georgia"/>
              </a:rPr>
              <a:t>× 100 000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No two exams of one student share a period.  Room capacity respected.  Period duration budget respected.  Period- and room-specific hard rules honoured.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0780" y="2743200"/>
            <a:ext cx="5372100" cy="91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40780" y="2834640"/>
            <a:ext cx="5372100" cy="3017520"/>
          </a:xfrm>
          <a:prstGeom prst="rect">
            <a:avLst/>
          </a:prstGeom>
          <a:solidFill>
            <a:srgbClr val="F5EFE1"/>
          </a:solidFill>
          <a:ln>
            <a:noFill/>
          </a:ln>
          <a:effectLst>
            <a:outerShdw blurRad="152400" dist="381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5100" y="3017520"/>
            <a:ext cx="48234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SOFT  (PENALISED)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3429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200" b="1" i="0">
                <a:solidFill>
                  <a:srgbClr val="0B2545"/>
                </a:solidFill>
                <a:latin typeface="Georgia"/>
              </a:rPr>
              <a:t>×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4572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Exams in-a-row / same-day / n-apart.  Mixed-duration exams sharing a room.  Large exams late in the session.  Period and room weighting.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6B7280"/>
                </a:solidFill>
                <a:latin typeface="Calibri"/>
              </a:rPr>
              <a:t>NP-HARD (GRAPH COLORING FORMULATION)   ·   NO POLYNOMIAL-TIME ALGORITHM KNOWN   ·   FEASIBILITY FIRST, THEN MINIMIZE SOFT PENALTY</a:t>
            </a:r>
          </a:p>
        </p:txBody>
      </p:sp>
      <p:sp>
        <p:nvSpPr>
          <p:cNvPr id="20" name="!!rq_q1"/>
          <p:cNvSpPr txBox="1"/>
          <p:nvPr/>
        </p:nvSpPr>
        <p:spPr>
          <a:xfrm>
            <a:off x="822960" y="74066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0B2545"/>
                </a:solidFill>
                <a:latin typeface="Georgia"/>
              </a:rPr>
              <a:t>Q1</a:t>
            </a:r>
          </a:p>
        </p:txBody>
      </p:sp>
      <p:sp>
        <p:nvSpPr>
          <p:cNvPr id="21" name="!!rq_q2"/>
          <p:cNvSpPr txBox="1"/>
          <p:nvPr/>
        </p:nvSpPr>
        <p:spPr>
          <a:xfrm>
            <a:off x="6530187" y="76352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4A63F"/>
                </a:solidFill>
                <a:latin typeface="Georgia"/>
              </a:rPr>
              <a:t>Q2</a:t>
            </a:r>
          </a:p>
        </p:txBody>
      </p:sp>
      <p:sp>
        <p:nvSpPr>
          <p:cNvPr id="22" name="!!rq_q3"/>
          <p:cNvSpPr txBox="1"/>
          <p:nvPr/>
        </p:nvSpPr>
        <p:spPr>
          <a:xfrm>
            <a:off x="822960" y="78638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24938"/>
                </a:solidFill>
                <a:latin typeface="Georgia"/>
              </a:rPr>
              <a:t>Q3</a:t>
            </a:r>
          </a:p>
        </p:txBody>
      </p:sp>
      <p:sp>
        <p:nvSpPr>
          <p:cNvPr id="23" name="!!rq_q4"/>
          <p:cNvSpPr txBox="1"/>
          <p:nvPr/>
        </p:nvSpPr>
        <p:spPr>
          <a:xfrm>
            <a:off x="6530187" y="80924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1F2937"/>
                </a:solidFill>
                <a:latin typeface="Georgia"/>
              </a:rPr>
              <a:t>Q4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03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Four research questions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AGENDA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One benchmark, thirteen algorithms — four directions this deck defends.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fam_navy"/>
          <p:cNvSpPr/>
          <p:nvPr/>
        </p:nvSpPr>
        <p:spPr>
          <a:xfrm>
            <a:off x="548640" y="2194560"/>
            <a:ext cx="73152" cy="1874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rq_q1"/>
          <p:cNvSpPr txBox="1"/>
          <p:nvPr/>
        </p:nvSpPr>
        <p:spPr>
          <a:xfrm>
            <a:off x="822960" y="224028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0B2545"/>
                </a:solidFill>
                <a:latin typeface="Georgia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51460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88036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How does each algorithm's runtime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scale from 50 to 1 000 exams?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5867" y="219456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fam_gold"/>
          <p:cNvSpPr/>
          <p:nvPr/>
        </p:nvSpPr>
        <p:spPr>
          <a:xfrm>
            <a:off x="6255867" y="2194560"/>
            <a:ext cx="73152" cy="187452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!!rq_q2"/>
          <p:cNvSpPr txBox="1"/>
          <p:nvPr/>
        </p:nvSpPr>
        <p:spPr>
          <a:xfrm>
            <a:off x="6530187" y="224028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4A63F"/>
                </a:solidFill>
                <a:latin typeface="Georgia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1827" y="251460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PARETO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1827" y="288036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Where does each sit on the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quality-vs-runtime frontier?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4340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fam_red"/>
          <p:cNvSpPr/>
          <p:nvPr/>
        </p:nvSpPr>
        <p:spPr>
          <a:xfrm>
            <a:off x="548640" y="4343400"/>
            <a:ext cx="73152" cy="187452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rq_q3"/>
          <p:cNvSpPr txBox="1"/>
          <p:nvPr/>
        </p:nvSpPr>
        <p:spPr>
          <a:xfrm>
            <a:off x="822960" y="438912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24938"/>
                </a:solidFill>
                <a:latin typeface="Georgia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66344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24938"/>
                </a:solidFill>
                <a:latin typeface="Calibri"/>
              </a:rPr>
              <a:t>SENSITIVITY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502920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Which tunable knob matters most,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per algorithm?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5867" y="434340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!!fam_charcoal"/>
          <p:cNvSpPr/>
          <p:nvPr/>
        </p:nvSpPr>
        <p:spPr>
          <a:xfrm>
            <a:off x="6255867" y="4343400"/>
            <a:ext cx="73152" cy="1874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!!rq_q4"/>
          <p:cNvSpPr txBox="1"/>
          <p:nvPr/>
        </p:nvSpPr>
        <p:spPr>
          <a:xfrm>
            <a:off x="6530187" y="438912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1F2937"/>
                </a:solidFill>
                <a:latin typeface="Georgia"/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1827" y="466344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RELIABILITY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827" y="502920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Does CP-SAT degrade gradually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or fall off a cliff?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04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A portfolio of thirteen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APPROACH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One C++20 solver — four algorithm families, thirteen members.</a:t>
            </a:r>
          </a:p>
        </p:txBody>
      </p:sp>
      <p:sp>
        <p:nvSpPr>
          <p:cNvPr id="8" name="!!fam_gold"/>
          <p:cNvSpPr/>
          <p:nvPr/>
        </p:nvSpPr>
        <p:spPr>
          <a:xfrm>
            <a:off x="548640" y="2194560"/>
            <a:ext cx="2567863" cy="4572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D4A63F"/>
                </a:solidFill>
                <a:latin typeface="Calibri"/>
              </a:rPr>
              <a:t>1 algo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Greedy (DSatur)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2841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Saturation-degree graph coloring — a single pass.</a:t>
            </a:r>
          </a:p>
        </p:txBody>
      </p:sp>
      <p:sp>
        <p:nvSpPr>
          <p:cNvPr id="14" name="!!fam_navy"/>
          <p:cNvSpPr/>
          <p:nvPr/>
        </p:nvSpPr>
        <p:spPr>
          <a:xfrm>
            <a:off x="3390823" y="2194560"/>
            <a:ext cx="2567863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90823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Trajectory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0823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B2545"/>
                </a:solidFill>
                <a:latin typeface="Calibri"/>
              </a:rPr>
              <a:t>7 algos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0823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27983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Tabu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33284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Feasibility-first swap + room-only moves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35844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Simulated Annealing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983" y="37856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Multi-neighbourhood geometric cooling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983" y="40416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Kempe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983" y="42428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Conflict-chain period swaps, SA acceptance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983" y="44988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Great Deluge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983" y="47000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Linearly decaying acceptance 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7983" y="49560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LAHC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7983" y="51572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Late-acceptance hill climbing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7983" y="5413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ALNS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983" y="56144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Adaptive destroy-and-repair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983" y="58704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GVNS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983" y="60716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Variable neighbourhood + SA kernel</a:t>
            </a:r>
          </a:p>
        </p:txBody>
      </p:sp>
      <p:sp>
        <p:nvSpPr>
          <p:cNvPr id="32" name="!!fam_red"/>
          <p:cNvSpPr/>
          <p:nvPr/>
        </p:nvSpPr>
        <p:spPr>
          <a:xfrm>
            <a:off x="6233006" y="2194560"/>
            <a:ext cx="2567863" cy="45720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33006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Population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006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D24938"/>
                </a:solidFill>
                <a:latin typeface="Calibri"/>
              </a:rPr>
              <a:t>4 algos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3006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70166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Genetic Alg.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0166" y="332841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Memetic GA — Kempe mutation + DSatur crossover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0166" y="390448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ABC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0166" y="410565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Artificial Bee Colony — multi-move bees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0166" y="468172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WOA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0166" y="488289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Whale Optimization — spiral + encircling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6" y="545896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HHO+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166" y="566013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Harris Hawks + Lévy flight + local refinement</a:t>
            </a:r>
          </a:p>
        </p:txBody>
      </p:sp>
      <p:sp>
        <p:nvSpPr>
          <p:cNvPr id="44" name="!!fam_charcoal"/>
          <p:cNvSpPr/>
          <p:nvPr/>
        </p:nvSpPr>
        <p:spPr>
          <a:xfrm>
            <a:off x="9075189" y="2194560"/>
            <a:ext cx="2567863" cy="4572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75189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Exact / Hybrid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75189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1 algo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75189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12349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CP-SAT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49" y="332841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OR-Tools BnB — 300 s cap in IP-only batch, 120 s in the main cross-algorithm batch.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05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Fast enough to benchmark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METHODOLOGY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Engineering that makes the comparison fair and the numbers reproducible.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3545738" cy="9144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3545738" cy="283464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D4A63F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24328"/>
            <a:ext cx="24941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Delta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F2937"/>
                </a:solidFill>
                <a:latin typeface="Calibri"/>
              </a:rPr>
              <a:t>Every local-search move computes Δcost in O(k), not O(n²).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86200"/>
            <a:ext cx="457200" cy="1524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299709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Single biggest speed-up. Every trajectory method leans on it; without Δ, 10 000-iter runs simply would not 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2978" y="2240280"/>
            <a:ext cx="3545738" cy="91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2978" y="2331720"/>
            <a:ext cx="3545738" cy="283464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1578" y="2514600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2545"/>
                </a:solidFill>
                <a:latin typeface="Georg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1658" y="2624328"/>
            <a:ext cx="24941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Warm-start chains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298" y="32004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F2937"/>
                </a:solidFill>
                <a:latin typeface="Calibri"/>
              </a:rPr>
              <a:t>--init-solution pipes one algorithm's output into the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7298" y="3886200"/>
            <a:ext cx="457200" cy="15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97298" y="4023360"/>
            <a:ext cx="299709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Chain-finder searches over chains: successive halving ladder + prefix cache + 1-point crossover selects alns → kempe → tabu.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7316" y="2240280"/>
            <a:ext cx="3545738" cy="914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7316" y="2331720"/>
            <a:ext cx="3545738" cy="283464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5916" y="2514600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D24938"/>
                </a:solidFill>
                <a:latin typeface="Georgi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5996" y="2624328"/>
            <a:ext cx="24941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Auto-tuner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32004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F2937"/>
                </a:solidFill>
                <a:latin typeface="Calibri"/>
              </a:rPr>
              <a:t>4-phase pipeline — screen, tune, chain-hunt, multi-seed validate.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71636" y="3886200"/>
            <a:ext cx="457200" cy="152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71636" y="4023360"/>
            <a:ext cx="299709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Global mode normalises per-dataset and uses geometric mean. Gated updates: no single dataset may regress more than 15 %.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>
            <a:outerShdw blurRad="101600" dist="25400" dir="5400000" rotWithShape="0">
              <a:srgbClr val="0B254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63F"/>
                </a:solidFill>
                <a:latin typeface="Calibri"/>
              </a:rPr>
              <a:t>BENCHMARK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ITC 2007 Examination Track — 8 real instances (242 to 1 096 exams) + synthetic generator.  Every algorithm runs on every set; 3 seeds each; final table reports mean ± std.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06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How each algorithm scales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METHODOLOGY  ·  RUNTIME COMPLEXITY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Theoretical Θ per iteration  ·  empirical mean runtime at n = 1 000.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41004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THEORETICAL  Θ  PER ITERATION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606040"/>
          <a:ext cx="541004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Inner loop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Θ (iter)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Greedy (DSatur)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single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 + 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Tabu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swap + Δcost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sample + Δcost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Kempe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chain + swap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 + c)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Great Deluge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sample + Δcost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LAHC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Δcost + history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ALNS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destroy + repair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 log 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GVNS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shake + SA kernel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Θ(N·T₁·k)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GA (memetic)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mutate + eval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Θ(n²)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ABC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P bees × move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Θ(P·k)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WOA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pop ×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Θ(P·n)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HHO+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Lévy + refine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Θ(P·n)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73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CP-SAT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branch &amp; bound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exp. worst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33007" y="2240280"/>
            <a:ext cx="541004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EMPIRICAL FLOOR  ·  MEAN RUNTIME @ n = 1 000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3007" y="2606040"/>
          <a:ext cx="541004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3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25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Mean (s)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Feasible?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Greedy (DSatur)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Tabu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16.75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Kempe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15.60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Great Deluge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LAHC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2.48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ALNS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40.36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GVNS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10.98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GA (memetic)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5.11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ABC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86.10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WOA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92.68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HHO+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64.36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73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CP-SAT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4.26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263640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Empirical from colab_batch_scaling, 3 seeds at n = 1 000.  Θ treats T, P, k, c as independent parameters.</a:t>
            </a:r>
          </a:p>
        </p:txBody>
      </p:sp>
      <p:pic>
        <p:nvPicPr>
          <p:cNvPr id="13" name="!!scaling_fig" descr="fig4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516" y="2148840"/>
            <a:ext cx="7381157" cy="2834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07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Runtime scales cleanly — until it doesn't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RQ1  ·  SCALING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Most algorithms are linear or near-linear in n; Construction stays cheap but its quality does not.</a:t>
            </a:r>
          </a:p>
        </p:txBody>
      </p:sp>
      <p:pic>
        <p:nvPicPr>
          <p:cNvPr id="8" name="!!scaling_fig" descr="fig4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181" y="2148840"/>
            <a:ext cx="7381157" cy="2834640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5001768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Runtime (log-log, left) and soft penalty (right) vs problem size, grouped by algorithm family.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394960"/>
            <a:ext cx="2683764" cy="457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TRAJECTORY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897880"/>
            <a:ext cx="365760" cy="15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Nearly linear — Δ-evaluation keeps per-move cost flat.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2132" y="5394960"/>
            <a:ext cx="2683764" cy="4572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42132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70732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4A63F"/>
                </a:solidFill>
                <a:latin typeface="Georgia"/>
              </a:rPr>
              <a:t>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70732" y="5897880"/>
            <a:ext cx="365760" cy="1524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70732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Cheapest by 2 orders of magnitude; quality blows up on dense sets.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5394960"/>
            <a:ext cx="2683764" cy="4572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35624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224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24938"/>
                </a:solidFill>
                <a:latin typeface="Georgia"/>
              </a:rPr>
              <a:t>POPULATION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5897880"/>
            <a:ext cx="365760" cy="152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64224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Dominated by pop × evaluator — steepest runtime slope.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29116" y="5394960"/>
            <a:ext cx="2683764" cy="457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929116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57716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7"/>
                </a:solidFill>
                <a:latin typeface="Georgia"/>
              </a:rPr>
              <a:t>EXACT / HYBRID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57716" y="5897880"/>
            <a:ext cx="365760" cy="152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57716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Omitted — returns incumbents (no proof) above n ≈ 900; not a scaling comparison.</a:t>
            </a:r>
          </a:p>
        </p:txBody>
      </p:sp>
      <p:pic>
        <p:nvPicPr>
          <p:cNvPr id="30" name="!!pareto_fig" descr="fig1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15023" y="2194560"/>
            <a:ext cx="6303165" cy="37490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08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The Pareto frontier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RQ2  ·  QUALITY VS RUNTIME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Trajectory methods own the bottom-left corner — best quality per second spent.</a:t>
            </a:r>
          </a:p>
        </p:txBody>
      </p:sp>
      <p:pic>
        <p:nvPicPr>
          <p:cNvPr id="8" name="!!pareto_fig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817" y="2194560"/>
            <a:ext cx="6303165" cy="3749039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77240" y="5961887"/>
            <a:ext cx="7132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Pareto frontier, synthetic n = 1000. Bottom-left dominates.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194560"/>
            <a:ext cx="3459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FRONTIER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2560320"/>
            <a:ext cx="68580" cy="1018031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52460" y="2560320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39912" y="2697480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90672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Best quality / time on small–medium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95763" y="2560320"/>
            <a:ext cx="68580" cy="1018031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64343" y="2560320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51795" y="2697480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GVNS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1795" y="3090672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Close second; lowest family 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3742943"/>
            <a:ext cx="68580" cy="1018031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52460" y="3742943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39912" y="3880103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Kempe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4273295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Tight runner-up on dense 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95763" y="3742943"/>
            <a:ext cx="68580" cy="1018031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064343" y="3742943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51795" y="3880103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24938"/>
                </a:solidFill>
                <a:latin typeface="Georgia"/>
              </a:rPr>
              <a:t>ABC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1795" y="4273295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Only Population member near frontier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4925566"/>
            <a:ext cx="68580" cy="1018031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52460" y="4925566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39912" y="5062726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4A63F"/>
                </a:solidFill>
                <a:latin typeface="Georgia"/>
              </a:rPr>
              <a:t>Greedy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2" y="5455918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Speed extremum — quality extremum too</a:t>
            </a:r>
          </a:p>
        </p:txBody>
      </p:sp>
      <p:pic>
        <p:nvPicPr>
          <p:cNvPr id="31" name="!!family_fig" descr="fig2_famil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73612" y="2148840"/>
            <a:ext cx="4883384" cy="40233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09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Who wins where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RESULTS  ·  FAMILY DOMINANCE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Trajectory takes every instance. Tabu leads the family; ABC dominates Population 7-of-8.</a:t>
            </a:r>
          </a:p>
        </p:txBody>
      </p:sp>
      <p:pic>
        <p:nvPicPr>
          <p:cNvPr id="8" name="!!family_fig" descr="fig2_famil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88" y="2148840"/>
            <a:ext cx="4883384" cy="4023360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Normalised soft penalty; green = in-family winner per instance. F-Rank (right) = mean rank within family (lower = better); Population has 4 members, Trajectory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50593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WITHIN-FAMILY LEADERS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2532888"/>
            <a:ext cx="109728" cy="882396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693408" y="2532888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532888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0B2545"/>
                </a:solidFill>
                <a:latin typeface="Georg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642616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TRAJECTORY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880360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122676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2.12   ·   Wins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43300"/>
            <a:ext cx="109728" cy="882396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693408" y="3543300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3543300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D24938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3028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POPULATION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90772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ABC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133088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1.12   ·   Wins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553712"/>
            <a:ext cx="109728" cy="882396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93408" y="4553712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553712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D4A63F"/>
                </a:solidFill>
                <a:latin typeface="Georgia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663440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CONSTRUCTION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901184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Greedy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5143500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—   ·   Wins 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564124"/>
            <a:ext cx="109728" cy="8823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693408" y="5564124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5564124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1F2937"/>
                </a:solidFill>
                <a:latin typeface="Georgia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673852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EXACT /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911596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CP-SAT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6153912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—   ·   Wins —</a:t>
            </a:r>
          </a:p>
        </p:txBody>
      </p:sp>
      <p:pic>
        <p:nvPicPr>
          <p:cNvPr id="35" name="!!sens_fig" descr="fig5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85" y="7955280"/>
            <a:ext cx="7497389" cy="36941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10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Which knob matters?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RQ3  ·  PARAMETER SENSITIVITY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Sensitivity  =  (max − min) / mean soft penalty across a 1-D sweep.</a:t>
            </a:r>
          </a:p>
        </p:txBody>
      </p:sp>
      <p:pic>
        <p:nvPicPr>
          <p:cNvPr id="8" name="!!sens_fig" descr="fig5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85" y="2194560"/>
            <a:ext cx="7497389" cy="3694176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5907024"/>
            <a:ext cx="74980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Left panel: iters sensitivity (universal). Right panel: top non-iters knob per algorithm.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9" y="2194560"/>
            <a:ext cx="33220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DOMINANT KNOB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2578608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321039" y="2578608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19" y="2578608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ALNS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8147" y="2578608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swing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39" y="2962656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39" y="2962656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19" y="2962656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8147" y="2962656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cooling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39" y="3346704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21039" y="3346704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19" y="3346704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8147" y="3346704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pop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39" y="3730752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321039" y="3730752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03919" y="3730752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8147" y="3730752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tenure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9" y="4114800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321039" y="4114800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03919" y="4114800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Kempe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8147" y="4114800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periods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39" y="4498848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321039" y="4498848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03919" y="4498848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ABC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8147" y="4498848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bees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9" y="5047488"/>
            <a:ext cx="3322016" cy="1207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Iters matter everywhere, but one per-family knob dominates the remaining variance — tune it first.</a:t>
            </a:r>
          </a:p>
        </p:txBody>
      </p:sp>
      <p:pic>
        <p:nvPicPr>
          <p:cNvPr id="36" name="!!chain_fig" descr="fig3_chain_method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63840" y="2317183"/>
            <a:ext cx="6766560" cy="29551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11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The champion chain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NOVEL CONTRIBUTION  ·  CHAIN-FINDER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alns → kempe → tabu — discovered by tournament, validated across all 8 sets.</a:t>
            </a:r>
          </a:p>
        </p:txBody>
      </p:sp>
      <p:pic>
        <p:nvPicPr>
          <p:cNvPr id="8" name="!!chain_fig" descr="fig3_chain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17183"/>
            <a:ext cx="6766560" cy="2955154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5458968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Successive-halving ladder + prefix cache + 1-point crossover → top-5 discovered chains.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4053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63F"/>
                </a:solidFill>
                <a:latin typeface="Calibri"/>
              </a:rPr>
              <a:t>TOP-5 CHAINS  (SCORE = NORMALISED GEOMEAN)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532888"/>
            <a:ext cx="4053535" cy="969264"/>
          </a:xfrm>
          <a:prstGeom prst="rect">
            <a:avLst/>
          </a:prstGeom>
          <a:solidFill>
            <a:srgbClr val="0B2545"/>
          </a:solidFill>
          <a:ln>
            <a:noFill/>
          </a:ln>
          <a:effectLst>
            <a:outerShdw blurRad="127000" dist="38100" dir="5400000" rotWithShape="0">
              <a:srgbClr val="0B254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89520" y="2532888"/>
            <a:ext cx="82296" cy="969264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2532888"/>
            <a:ext cx="1188720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D4A63F"/>
                </a:solidFill>
                <a:latin typeface="Georgia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532888"/>
            <a:ext cx="1538935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Georgia"/>
              </a:rPr>
              <a:t>alns  →  kempe  →  tabu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2532888"/>
            <a:ext cx="960120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D4A63F"/>
                </a:solidFill>
                <a:latin typeface="Georgia"/>
              </a:rPr>
              <a:t>0.928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3593592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3593592"/>
            <a:ext cx="82296" cy="48463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0688" y="3593592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593592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kempe  →  tabu  →  alns  → 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3593592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4169664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589520" y="4169664"/>
            <a:ext cx="82296" cy="48463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90688" y="4169664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24938"/>
                </a:solidFill>
                <a:latin typeface="Georgia"/>
              </a:rPr>
              <a:t>#3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169664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kempe  →  kempe  →  tabu  →  abc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4169664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0.933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0" y="4745736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589520" y="4745736"/>
            <a:ext cx="82296" cy="48463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90688" y="4745736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#4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4745736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kempe  →  alns  →  kempe  → 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1495" y="4745736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0.949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5321808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589520" y="5321808"/>
            <a:ext cx="82296" cy="48463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90688" y="5321808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#5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5321808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gd  →  vns  →  tabu  →  gd  →  alns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5321808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5989320"/>
            <a:ext cx="405353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Chain-finder selects the shortest chain within 0.5 % of the best score — trades 3.5× fewer total iterations for a ≈ 0.5 % hit. ALNS diversifies, Kempe repairs period structure, Tabu polishes.</a:t>
            </a:r>
          </a:p>
        </p:txBody>
      </p:sp>
      <p:sp>
        <p:nvSpPr>
          <p:cNvPr id="37" name="!!cliff_teaser"/>
          <p:cNvSpPr txBox="1"/>
          <p:nvPr/>
        </p:nvSpPr>
        <p:spPr>
          <a:xfrm>
            <a:off x="-1371600" y="-13716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D24938"/>
                </a:solidFill>
                <a:latin typeface="Georgia"/>
              </a:rPr>
              <a:t>900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THE CLIFF   ·   RQ4  ·  EXACT SOLVER RELIABILITY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A5A092"/>
                </a:solidFill>
                <a:latin typeface="Georgia"/>
              </a:rPr>
              <a:t>№ 12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5A092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5EFE1"/>
                </a:solidFill>
                <a:latin typeface="Georgia"/>
              </a:rPr>
              <a:t>A reliability cliff, not a slope.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1">
                <a:solidFill>
                  <a:srgbClr val="A5A092"/>
                </a:solidFill>
                <a:latin typeface="Georgia"/>
              </a:rPr>
              <a:t>CP-SAT solves every instance ≤ 870 exams and fails every instance ≥ 934.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3017520" cy="30480"/>
          </a:xfrm>
          <a:prstGeom prst="rect">
            <a:avLst/>
          </a:prstGeom>
          <a:solidFill>
            <a:srgbClr val="7DC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DC37A"/>
                </a:solidFill>
                <a:latin typeface="Calibri"/>
              </a:rPr>
              <a:t>SOLVED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5EFE1"/>
                </a:solidFill>
                <a:latin typeface="Georgia"/>
              </a:rPr>
              <a:t>242–870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5A092"/>
                </a:solidFill>
                <a:latin typeface="Calibri"/>
              </a:rPr>
              <a:t>EXAMS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79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A5A092"/>
                </a:solidFill>
                <a:latin typeface="Georgia"/>
              </a:rPr>
              <a:t>All four instances solved to a non-improving incumbent inside the 300 s IP-batch budget — no timeouts in this band.</a:t>
            </a:r>
          </a:p>
        </p:txBody>
      </p:sp>
      <p:sp>
        <p:nvSpPr>
          <p:cNvPr id="13" name="!!cliff_teaser"/>
          <p:cNvSpPr txBox="1"/>
          <p:nvPr/>
        </p:nvSpPr>
        <p:spPr>
          <a:xfrm>
            <a:off x="4023360" y="2331720"/>
            <a:ext cx="4142232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0" b="1" i="0">
                <a:solidFill>
                  <a:srgbClr val="D24938"/>
                </a:solidFill>
                <a:latin typeface="Georgia"/>
              </a:rPr>
              <a:t>900</a:t>
            </a:r>
          </a:p>
        </p:txBody>
      </p:sp>
      <p:sp>
        <p:nvSpPr>
          <p:cNvPr id="14" name="!!mega_number"/>
          <p:cNvSpPr/>
          <p:nvPr/>
        </p:nvSpPr>
        <p:spPr>
          <a:xfrm>
            <a:off x="4023360" y="2331720"/>
            <a:ext cx="4142232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0" y="5166360"/>
            <a:ext cx="41422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4A63F"/>
                </a:solidFill>
                <a:latin typeface="Calibri"/>
              </a:rPr>
              <a:t>EXAM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28716" y="5532120"/>
            <a:ext cx="731520" cy="3048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42655" y="2423160"/>
            <a:ext cx="3017520" cy="3048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2655" y="25603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D24938"/>
                </a:solidFill>
                <a:latin typeface="Calibri"/>
              </a:rPr>
              <a:t>TIMED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2655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 i="0">
                <a:solidFill>
                  <a:srgbClr val="F5EFE1"/>
                </a:solidFill>
                <a:latin typeface="Georgia"/>
              </a:rPr>
              <a:t>934–1 096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2655" y="38404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A5A092"/>
                </a:solidFill>
                <a:latin typeface="Calibri"/>
              </a:rPr>
              <a:t>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2655" y="4297679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 i="1">
                <a:solidFill>
                  <a:srgbClr val="A5A092"/>
                </a:solidFill>
                <a:latin typeface="Georgia"/>
              </a:rPr>
              <a:t>No proof returned inside the 300 s IP-batch budget for any instance in this band.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A5A092"/>
                </a:solidFill>
                <a:latin typeface="Georgia"/>
              </a:rPr>
              <a:t>Above the cliff, heuristics are not merely faster — they are the only ones that finish.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13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Gap to proven optimum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RQ4  ·  CLOSING THE GAP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On 7 instances with a CP-SAT proof, top trajectory methods stay within single-digit percent (set8 excluded).</a:t>
            </a:r>
          </a:p>
        </p:txBody>
      </p:sp>
      <p:sp>
        <p:nvSpPr>
          <p:cNvPr id="8" name="!!mega_number"/>
          <p:cNvSpPr/>
          <p:nvPr/>
        </p:nvSpPr>
        <p:spPr>
          <a:xfrm>
            <a:off x="548640" y="2331720"/>
            <a:ext cx="6400800" cy="3931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!!data_grid" descr="fig7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888" y="2331720"/>
            <a:ext cx="4248303" cy="3931920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48640" y="6217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Gap heatmap — (algo_soft / ip_soft − 1) × 100 %, sorted by mean gap.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31720"/>
            <a:ext cx="43278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HEADLINE GAPS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2715768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0" y="2715768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715768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5520" y="2715768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+2.7 %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099816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0" y="3099816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0" y="3099816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GVNS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5520" y="3099816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+4.1 %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3483864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0" y="3483864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0" y="3483864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Kempe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5520" y="3483864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+8.5 %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3867912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0" y="3867912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0" y="3867912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ABC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5520" y="3867912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+9.3 %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4251960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0" y="4251960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0" y="4251960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ALNS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5520" y="4251960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+12.1 %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4636008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315200" y="4636008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4636008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SA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5520" y="4636008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+45.7 %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184648"/>
            <a:ext cx="4327855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Tabu — the within-family winner on the heatmap — is also closest to the proven optimum. On instances where CP-SAT can return a proof, trajectory methods come within a few percent for a tiny fraction of the runtime.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14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Full leaderboard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RESULTS  ·  ALL 13 ON 8 INSTANCES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Mean soft penalty over 3 seeds, across all eight ITC 2007 sets, sorted by mean rank.</a:t>
            </a:r>
          </a:p>
        </p:txBody>
      </p:sp>
      <p:graphicFrame>
        <p:nvGraphicFramePr>
          <p:cNvPr id="8" name="!!data_grid"/>
          <p:cNvGraphicFramePr>
            <a:graphicFrameLocks noGrp="1"/>
          </p:cNvGraphicFramePr>
          <p:nvPr/>
        </p:nvGraphicFramePr>
        <p:xfrm>
          <a:off x="548640" y="2103120"/>
          <a:ext cx="110642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Algo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GVNS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10 614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2 364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21 941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25 305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5 424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31 634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9 357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13 970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Tabu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8 740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2 740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25 558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33 163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5 789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30 733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8 043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12 972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2.38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Kempe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12 383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2 211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25 189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23 999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10 975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31 449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10 938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14 923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3.50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ABC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13 663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2 841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23 287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28 365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5 995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33 081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9 592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14 339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3.75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WOA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13 862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3 578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30 832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34 807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11 086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33 160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10 386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14 332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5.88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937"/>
                          </a:solidFill>
                          <a:latin typeface="Calibri"/>
                        </a:rPr>
                        <a:t>CP-SAT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14 715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3 628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25 611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47 735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6 428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35 336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10 137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14 084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6.25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LAHC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15 267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3 952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33 516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32 594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12 893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33 057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12 979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15 202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6.62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16 249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6 613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40 625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32 225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29 308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33 144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21 832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19 954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ALNS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11 252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3 117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159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45 419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43 657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36 662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16 186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17 420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8.25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27 975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7 544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43 496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38 595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13 046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41 681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13 158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22 823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9.38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41 973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130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173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35 701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330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39 173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115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526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HHO+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54 546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123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154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41 154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264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48 776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152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323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11.12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4A63F"/>
                          </a:solidFill>
                          <a:latin typeface="Calibri"/>
                        </a:rPr>
                        <a:t>Greedy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68 678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183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277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62 720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412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68 625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267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575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937"/>
                          </a:solidFill>
                          <a:latin typeface="Calibri"/>
                        </a:rPr>
                        <a:t>IP†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8 509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2 604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28 162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27 710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25‡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336792"/>
            <a:ext cx="182880" cy="1097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Trajectory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6336792"/>
            <a:ext cx="182880" cy="109728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4028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Population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6336792"/>
            <a:ext cx="182880" cy="109728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Construction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6336792"/>
            <a:ext cx="182880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Exact / Hybrid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0975" y="62636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†  IP† = CP-SAT full-converge (reference row, not a 14th algo).  ‡  set8 = evaluator-scale anomaly.</a:t>
            </a:r>
          </a:p>
        </p:txBody>
      </p:sp>
      <p:sp>
        <p:nvSpPr>
          <p:cNvPr id="18" name="!!finding_01"/>
          <p:cNvSpPr/>
          <p:nvPr/>
        </p:nvSpPr>
        <p:spPr>
          <a:xfrm rot="240000">
            <a:off x="-10552176" y="169164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finding_02"/>
          <p:cNvSpPr/>
          <p:nvPr/>
        </p:nvSpPr>
        <p:spPr>
          <a:xfrm rot="330000">
            <a:off x="-10872216" y="265176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finding_03"/>
          <p:cNvSpPr/>
          <p:nvPr/>
        </p:nvSpPr>
        <p:spPr>
          <a:xfrm rot="420000">
            <a:off x="-11192256" y="361188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!!finding_04"/>
          <p:cNvSpPr/>
          <p:nvPr/>
        </p:nvSpPr>
        <p:spPr>
          <a:xfrm rot="510000">
            <a:off x="-11512295" y="457200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finding_05"/>
          <p:cNvSpPr/>
          <p:nvPr/>
        </p:nvSpPr>
        <p:spPr>
          <a:xfrm rot="600000">
            <a:off x="-11832335" y="553212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15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What this work contributes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TAKEAWAYS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640080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691640"/>
            <a:ext cx="54864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finding_01"/>
          <p:cNvSpPr/>
          <p:nvPr/>
        </p:nvSpPr>
        <p:spPr>
          <a:xfrm>
            <a:off x="1426464" y="169164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91056" y="176479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Trajectory methods dominate.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207568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Tabu, GVNS, and Kempe own the Pareto frontier. Tabu wins 4-of-8 intra-family slots and sits within +2.7 % of the CP-SAT optimum.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640080" cy="91440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65176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651760"/>
            <a:ext cx="54864" cy="91440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!!finding_02"/>
          <p:cNvSpPr/>
          <p:nvPr/>
        </p:nvSpPr>
        <p:spPr>
          <a:xfrm>
            <a:off x="1426464" y="265176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91056" y="272491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24938"/>
                </a:solidFill>
                <a:latin typeface="Georgia"/>
              </a:rPr>
              <a:t>Population methods are a distant second.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303580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ABC is the best of the Population family (7-of-8 intra-family wins) but lags Trajectory by 5–15 % on tight instances.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11880"/>
            <a:ext cx="640080" cy="9144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61188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611880"/>
            <a:ext cx="54864" cy="9144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finding_03"/>
          <p:cNvSpPr/>
          <p:nvPr/>
        </p:nvSpPr>
        <p:spPr>
          <a:xfrm>
            <a:off x="1426464" y="361188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1056" y="368503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937"/>
                </a:solidFill>
                <a:latin typeface="Georgia"/>
              </a:rPr>
              <a:t>Exact solvers have a reliability cliff at ~900 exams.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99592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CP-SAT solves every instance under 870 exams and times out on every instance over 934. Heuristics are not merely faster — they are the only option on the upper half of ITC 2007.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640080" cy="914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57200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4572000"/>
            <a:ext cx="54864" cy="914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!!finding_04"/>
          <p:cNvSpPr/>
          <p:nvPr/>
        </p:nvSpPr>
        <p:spPr>
          <a:xfrm>
            <a:off x="1426464" y="457200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91056" y="464515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4A63F"/>
                </a:solidFill>
                <a:latin typeface="Georgia"/>
              </a:rPr>
              <a:t>Warm-start chains beat monoculture.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95604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Chain-finder discovers alns → kempe → tabu as the champion: diversify, then repair, then polish — shorter and better than any single algorithm alone.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532120"/>
            <a:ext cx="640080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53212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5532120"/>
            <a:ext cx="54864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!!finding_05"/>
          <p:cNvSpPr/>
          <p:nvPr/>
        </p:nvSpPr>
        <p:spPr>
          <a:xfrm>
            <a:off x="1426464" y="553212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91056" y="560527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A single C++20 solver with Δ-eval makes this comparison honest.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1056" y="591616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Every algorithm runs under identical timing, neighborhood, and evaluator code — no cross-implementation bias.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CLOSING   ·   QUESTIONS &amp; DISCUSSION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A5A092"/>
                </a:solidFill>
                <a:latin typeface="Georgia"/>
              </a:rPr>
              <a:t>№ 16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5A092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5156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5400" b="1" i="0">
                <a:solidFill>
                  <a:srgbClr val="F5EFE1"/>
                </a:solidFill>
                <a:latin typeface="Georgia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874519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A5A092"/>
                </a:solidFill>
                <a:latin typeface="Georgia"/>
              </a:rPr>
              <a:t>Questions   ·   Discussion   ·   Code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730087" y="2423160"/>
            <a:ext cx="731520" cy="25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5364327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[1]  McCollum, B. et al. (2010). “A new model for automated examination timetabling.”  Annals of Operations Research, 194(1), 291–315. — ITC 2007 dataset &amp; evaluator.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[2]  Carter, M., Laporte, G. &amp; Lee, S. (1996). “Examination Timetabling: Algorithmic Strategies &amp; Applications.”  J. Oper. Res. Soc., 47(3), 373–383.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[3]  Burke, E. et al. (2010). “Hybrid variable neighbourhood approaches to university exam timetabling.”  European J. Oper. Res., 206(1), 46–53.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[4]  Perron, L. &amp; Furnon, V. (2024). OR-Tools CP-SAT Solver.  Google. developers.google.com/optimization.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3017520"/>
            <a:ext cx="5364327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[5]  Glover, F. (1989). “Tabu Search — Part I.”  ORSA J. on Computing, 1(3), 190–206.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[6]  Kirkpatrick, S., Gelatt, C. &amp; Vecchi, M. (1983). “Optimization by Simulated Annealing.”  Science, 220(4598), 671–680.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[7]  Ropke, S. &amp; Pisinger, D. (2006). “An Adaptive Large Neighborhood Search Heuristic for the PDPTW.”  Transportation Science, 40(4), 455–472.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[8]  Karaboga, D. &amp; Basturk, B. (2007). “A powerful and efficient algorithm for numerical function optimization: Artificial Bee Colony.”  J. Global Optimization, 39(3), 459–471.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2967" y="6126480"/>
            <a:ext cx="365760" cy="19050"/>
          </a:xfrm>
          <a:prstGeom prst="rect">
            <a:avLst/>
          </a:prstGeom>
          <a:solidFill>
            <a:srgbClr val="A5A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5EFE1"/>
                </a:solidFill>
                <a:latin typeface="Calibri"/>
              </a:rPr>
              <a:t>github.com/Dialovos/exam-scheduling-algos-analyze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2498</Words>
  <Application>Microsoft Office PowerPoint</Application>
  <PresentationFormat>Widescreen</PresentationFormat>
  <Paragraphs>530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Cronin, Ian (imcronin42)</cp:lastModifiedBy>
  <cp:revision>2</cp:revision>
  <dcterms:created xsi:type="dcterms:W3CDTF">2013-01-27T09:14:16Z</dcterms:created>
  <dcterms:modified xsi:type="dcterms:W3CDTF">2026-04-27T18:41:47Z</dcterms:modified>
  <cp:category/>
</cp:coreProperties>
</file>