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660441A-A1DB-4CC9-AFED-3912C735DF6F}" v="1" dt="2026-04-27T20:08:29.36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695" autoAdjust="0"/>
    <p:restoredTop sz="94660"/>
  </p:normalViewPr>
  <p:slideViewPr>
    <p:cSldViewPr snapToGrid="0" snapToObjects="1">
      <p:cViewPr varScale="1">
        <p:scale>
          <a:sx n="62" d="100"/>
          <a:sy n="62" d="100"/>
        </p:scale>
        <p:origin x="1184" y="2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oang Le" userId="12458f32aff32e49" providerId="LiveId" clId="{7D7A4E7E-1528-4E6A-8A43-1A20864013E4}"/>
    <pc:docChg chg="modSld">
      <pc:chgData name="Hoang Le" userId="12458f32aff32e49" providerId="LiveId" clId="{7D7A4E7E-1528-4E6A-8A43-1A20864013E4}" dt="2026-04-27T20:08:29.361" v="0"/>
      <pc:docMkLst>
        <pc:docMk/>
      </pc:docMkLst>
      <pc:sldChg chg="modTransition">
        <pc:chgData name="Hoang Le" userId="12458f32aff32e49" providerId="LiveId" clId="{7D7A4E7E-1528-4E6A-8A43-1A20864013E4}" dt="2026-04-27T20:08:29.361" v="0"/>
        <pc:sldMkLst>
          <pc:docMk/>
          <pc:sldMk cId="0" sldId="257"/>
        </pc:sldMkLst>
      </pc:sldChg>
      <pc:sldChg chg="modTransition">
        <pc:chgData name="Hoang Le" userId="12458f32aff32e49" providerId="LiveId" clId="{7D7A4E7E-1528-4E6A-8A43-1A20864013E4}" dt="2026-04-27T20:08:29.361" v="0"/>
        <pc:sldMkLst>
          <pc:docMk/>
          <pc:sldMk cId="0" sldId="258"/>
        </pc:sldMkLst>
      </pc:sldChg>
      <pc:sldChg chg="modTransition">
        <pc:chgData name="Hoang Le" userId="12458f32aff32e49" providerId="LiveId" clId="{7D7A4E7E-1528-4E6A-8A43-1A20864013E4}" dt="2026-04-27T20:08:29.361" v="0"/>
        <pc:sldMkLst>
          <pc:docMk/>
          <pc:sldMk cId="0" sldId="259"/>
        </pc:sldMkLst>
      </pc:sldChg>
      <pc:sldChg chg="modTransition">
        <pc:chgData name="Hoang Le" userId="12458f32aff32e49" providerId="LiveId" clId="{7D7A4E7E-1528-4E6A-8A43-1A20864013E4}" dt="2026-04-27T20:08:29.361" v="0"/>
        <pc:sldMkLst>
          <pc:docMk/>
          <pc:sldMk cId="0" sldId="260"/>
        </pc:sldMkLst>
      </pc:sldChg>
      <pc:sldChg chg="modTransition">
        <pc:chgData name="Hoang Le" userId="12458f32aff32e49" providerId="LiveId" clId="{7D7A4E7E-1528-4E6A-8A43-1A20864013E4}" dt="2026-04-27T20:08:29.361" v="0"/>
        <pc:sldMkLst>
          <pc:docMk/>
          <pc:sldMk cId="0" sldId="261"/>
        </pc:sldMkLst>
      </pc:sldChg>
      <pc:sldChg chg="modTransition">
        <pc:chgData name="Hoang Le" userId="12458f32aff32e49" providerId="LiveId" clId="{7D7A4E7E-1528-4E6A-8A43-1A20864013E4}" dt="2026-04-27T20:08:29.361" v="0"/>
        <pc:sldMkLst>
          <pc:docMk/>
          <pc:sldMk cId="0" sldId="262"/>
        </pc:sldMkLst>
      </pc:sldChg>
      <pc:sldChg chg="modTransition">
        <pc:chgData name="Hoang Le" userId="12458f32aff32e49" providerId="LiveId" clId="{7D7A4E7E-1528-4E6A-8A43-1A20864013E4}" dt="2026-04-27T20:08:29.361" v="0"/>
        <pc:sldMkLst>
          <pc:docMk/>
          <pc:sldMk cId="0" sldId="263"/>
        </pc:sldMkLst>
      </pc:sldChg>
      <pc:sldChg chg="modTransition">
        <pc:chgData name="Hoang Le" userId="12458f32aff32e49" providerId="LiveId" clId="{7D7A4E7E-1528-4E6A-8A43-1A20864013E4}" dt="2026-04-27T20:08:29.361" v="0"/>
        <pc:sldMkLst>
          <pc:docMk/>
          <pc:sldMk cId="0" sldId="264"/>
        </pc:sldMkLst>
      </pc:sldChg>
      <pc:sldChg chg="modTransition">
        <pc:chgData name="Hoang Le" userId="12458f32aff32e49" providerId="LiveId" clId="{7D7A4E7E-1528-4E6A-8A43-1A20864013E4}" dt="2026-04-27T20:08:29.361" v="0"/>
        <pc:sldMkLst>
          <pc:docMk/>
          <pc:sldMk cId="0" sldId="265"/>
        </pc:sldMkLst>
      </pc:sldChg>
      <pc:sldChg chg="modTransition">
        <pc:chgData name="Hoang Le" userId="12458f32aff32e49" providerId="LiveId" clId="{7D7A4E7E-1528-4E6A-8A43-1A20864013E4}" dt="2026-04-27T20:08:29.361" v="0"/>
        <pc:sldMkLst>
          <pc:docMk/>
          <pc:sldMk cId="0" sldId="266"/>
        </pc:sldMkLst>
      </pc:sldChg>
      <pc:sldChg chg="modTransition">
        <pc:chgData name="Hoang Le" userId="12458f32aff32e49" providerId="LiveId" clId="{7D7A4E7E-1528-4E6A-8A43-1A20864013E4}" dt="2026-04-27T20:08:29.361" v="0"/>
        <pc:sldMkLst>
          <pc:docMk/>
          <pc:sldMk cId="0" sldId="267"/>
        </pc:sldMkLst>
      </pc:sldChg>
      <pc:sldChg chg="modTransition">
        <pc:chgData name="Hoang Le" userId="12458f32aff32e49" providerId="LiveId" clId="{7D7A4E7E-1528-4E6A-8A43-1A20864013E4}" dt="2026-04-27T20:08:29.361" v="0"/>
        <pc:sldMkLst>
          <pc:docMk/>
          <pc:sldMk cId="0" sldId="268"/>
        </pc:sldMkLst>
      </pc:sldChg>
      <pc:sldChg chg="modTransition">
        <pc:chgData name="Hoang Le" userId="12458f32aff32e49" providerId="LiveId" clId="{7D7A4E7E-1528-4E6A-8A43-1A20864013E4}" dt="2026-04-27T20:08:29.361" v="0"/>
        <pc:sldMkLst>
          <pc:docMk/>
          <pc:sldMk cId="0" sldId="269"/>
        </pc:sldMkLst>
      </pc:sldChg>
      <pc:sldChg chg="modTransition">
        <pc:chgData name="Hoang Le" userId="12458f32aff32e49" providerId="LiveId" clId="{7D7A4E7E-1528-4E6A-8A43-1A20864013E4}" dt="2026-04-27T20:08:29.361" v="0"/>
        <pc:sldMkLst>
          <pc:docMk/>
          <pc:sldMk cId="0" sldId="270"/>
        </pc:sldMkLst>
      </pc:sldChg>
      <pc:sldChg chg="modTransition">
        <pc:chgData name="Hoang Le" userId="12458f32aff32e49" providerId="LiveId" clId="{7D7A4E7E-1528-4E6A-8A43-1A20864013E4}" dt="2026-04-27T20:08:29.361" v="0"/>
        <pc:sldMkLst>
          <pc:docMk/>
          <pc:sldMk cId="0" sldId="271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_rail"/>
          <p:cNvSpPr/>
          <p:nvPr/>
        </p:nvSpPr>
        <p:spPr>
          <a:xfrm>
            <a:off x="548640" y="457200"/>
            <a:ext cx="1280160" cy="3810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!!kicker_text"/>
          <p:cNvSpPr txBox="1"/>
          <p:nvPr/>
        </p:nvSpPr>
        <p:spPr>
          <a:xfrm>
            <a:off x="205740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4A63F"/>
                </a:solidFill>
                <a:latin typeface="Calibri"/>
              </a:rPr>
              <a:t>CSC 2400   ·   TERM PROJECT   ·   APRIL 2026</a:t>
            </a:r>
          </a:p>
        </p:txBody>
      </p:sp>
      <p:sp>
        <p:nvSpPr>
          <p:cNvPr id="4" name="!!page_counter"/>
          <p:cNvSpPr txBox="1"/>
          <p:nvPr/>
        </p:nvSpPr>
        <p:spPr>
          <a:xfrm>
            <a:off x="9814255" y="32004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0" i="1">
                <a:solidFill>
                  <a:srgbClr val="A5A092"/>
                </a:solidFill>
                <a:latin typeface="Georgia"/>
              </a:rPr>
              <a:t>№ 01 / 16</a:t>
            </a:r>
          </a:p>
        </p:txBody>
      </p:sp>
      <p:sp>
        <p:nvSpPr>
          <p:cNvPr id="5" name="!!footer_byline"/>
          <p:cNvSpPr txBox="1"/>
          <p:nvPr/>
        </p:nvSpPr>
        <p:spPr>
          <a:xfrm>
            <a:off x="548640" y="6537960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A5A092"/>
                </a:solidFill>
                <a:latin typeface="Calibri"/>
              </a:rPr>
              <a:t>Exam Timetabling at Scale  ·  Le &amp; Cronin  ·  ITC 2007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1109441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D4A63F"/>
                </a:solidFill>
                <a:latin typeface="Calibri"/>
              </a:rPr>
              <a:t>TENNESSEE TECH. UNIVERSITY   ·   DEPARTMENT OF COMPUTER SCIENCE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5638647" y="2240280"/>
            <a:ext cx="914400" cy="2540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560320"/>
            <a:ext cx="11094415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5800" b="1" i="0">
                <a:solidFill>
                  <a:srgbClr val="F5EFE1"/>
                </a:solidFill>
                <a:latin typeface="Georgia"/>
              </a:rPr>
              <a:t>Exam Timetabling at Scale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94760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1">
                <a:solidFill>
                  <a:srgbClr val="A5A092"/>
                </a:solidFill>
                <a:latin typeface="Georgia"/>
              </a:rPr>
              <a:t>Benchmarking thirteen algorithms on the ITC 2007 examination track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67247" y="4709160"/>
            <a:ext cx="457200" cy="19050"/>
          </a:xfrm>
          <a:prstGeom prst="rect">
            <a:avLst/>
          </a:prstGeom>
          <a:solidFill>
            <a:srgbClr val="A5A0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507492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 i="0">
                <a:solidFill>
                  <a:srgbClr val="F5EFE1"/>
                </a:solidFill>
                <a:latin typeface="Georgia"/>
              </a:rPr>
              <a:t>Hoang Le   ·   Ian Cronin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57784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A5A092"/>
                </a:solidFill>
                <a:latin typeface="Calibri"/>
              </a:rPr>
              <a:t>APRIL 2026   ·   CSC 2400   ·   TERM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1">
                <a:solidFill>
                  <a:srgbClr val="A5A092"/>
                </a:solidFill>
                <a:latin typeface="Georgia"/>
              </a:rPr>
              <a:t>GenAI assistance (Claude, ChatGPT) used for brainstorming, research, code implementation, experimental design, plotting, data analysis, and report / slide drafting.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E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_rail"/>
          <p:cNvSpPr/>
          <p:nvPr/>
        </p:nvSpPr>
        <p:spPr>
          <a:xfrm>
            <a:off x="548640" y="457200"/>
            <a:ext cx="1280160" cy="3810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!!kicker_text"/>
          <p:cNvSpPr txBox="1"/>
          <p:nvPr/>
        </p:nvSpPr>
        <p:spPr>
          <a:xfrm>
            <a:off x="205740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4A63F"/>
                </a:solidFill>
                <a:latin typeface="Calibri"/>
              </a:rPr>
              <a:t>THE PROBLEM   ·   CAPACITATED EXAM TIMETABLING</a:t>
            </a:r>
          </a:p>
        </p:txBody>
      </p:sp>
      <p:sp>
        <p:nvSpPr>
          <p:cNvPr id="4" name="!!page_counter"/>
          <p:cNvSpPr txBox="1"/>
          <p:nvPr/>
        </p:nvSpPr>
        <p:spPr>
          <a:xfrm>
            <a:off x="9814255" y="32004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0" i="1">
                <a:solidFill>
                  <a:srgbClr val="6B7280"/>
                </a:solidFill>
                <a:latin typeface="Georgia"/>
              </a:rPr>
              <a:t>№ 02 / 16</a:t>
            </a:r>
          </a:p>
        </p:txBody>
      </p:sp>
      <p:sp>
        <p:nvSpPr>
          <p:cNvPr id="5" name="!!footer_byline"/>
          <p:cNvSpPr txBox="1"/>
          <p:nvPr/>
        </p:nvSpPr>
        <p:spPr>
          <a:xfrm>
            <a:off x="548640" y="6537960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6B7280"/>
                </a:solidFill>
                <a:latin typeface="Calibri"/>
              </a:rPr>
              <a:t>Exam Timetabling at Scale  ·  Le &amp; Cronin  ·  ITC 2007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937"/>
                </a:solidFill>
                <a:latin typeface="Georgia"/>
              </a:rPr>
              <a:t>Assign every exam to a (period, room) pair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1">
                <a:solidFill>
                  <a:srgbClr val="6B7280"/>
                </a:solidFill>
                <a:latin typeface="Georgia"/>
              </a:rPr>
              <a:t>minimizing a single penalty term, subject to hard constraints.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3172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D4A63F"/>
                </a:solidFill>
                <a:latin typeface="Calibri"/>
              </a:rPr>
              <a:t>OBJECTIVE   ·   fitness  =  hard × 100 000  +  soft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743200"/>
            <a:ext cx="5372100" cy="91440"/>
          </a:xfrm>
          <a:prstGeom prst="rect">
            <a:avLst/>
          </a:prstGeom>
          <a:solidFill>
            <a:srgbClr val="D24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2834640"/>
            <a:ext cx="5372100" cy="3017520"/>
          </a:xfrm>
          <a:prstGeom prst="rect">
            <a:avLst/>
          </a:prstGeom>
          <a:solidFill>
            <a:srgbClr val="F5EFE1"/>
          </a:solidFill>
          <a:ln>
            <a:noFill/>
          </a:ln>
          <a:effectLst>
            <a:outerShdw blurRad="152400" dist="38100" dir="5400000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3017520"/>
            <a:ext cx="48234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D24938"/>
                </a:solidFill>
                <a:latin typeface="Calibri"/>
              </a:rPr>
              <a:t>HARD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29000"/>
            <a:ext cx="48234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600" b="1" i="0">
                <a:solidFill>
                  <a:srgbClr val="D24938"/>
                </a:solidFill>
                <a:latin typeface="Georgia"/>
              </a:rPr>
              <a:t>× 100 000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572000"/>
            <a:ext cx="48234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1">
                <a:solidFill>
                  <a:srgbClr val="1F2937"/>
                </a:solidFill>
                <a:latin typeface="Georgia"/>
              </a:rPr>
              <a:t>No two exams of one student share a period.  Room capacity respected.  Period duration budget respected.  Period- and room-specific hard rules honoured.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0780" y="2743200"/>
            <a:ext cx="5372100" cy="9144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40780" y="2834640"/>
            <a:ext cx="5372100" cy="3017520"/>
          </a:xfrm>
          <a:prstGeom prst="rect">
            <a:avLst/>
          </a:prstGeom>
          <a:solidFill>
            <a:srgbClr val="F5EFE1"/>
          </a:solidFill>
          <a:ln>
            <a:noFill/>
          </a:ln>
          <a:effectLst>
            <a:outerShdw blurRad="152400" dist="38100" dir="5400000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15100" y="3017520"/>
            <a:ext cx="48234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B2545"/>
                </a:solidFill>
                <a:latin typeface="Calibri"/>
              </a:rPr>
              <a:t>SOFT  (PENALISED)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5100" y="3429000"/>
            <a:ext cx="48234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7200" b="1" i="0">
                <a:solidFill>
                  <a:srgbClr val="0B2545"/>
                </a:solidFill>
                <a:latin typeface="Georgia"/>
              </a:rPr>
              <a:t>×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5100" y="4572000"/>
            <a:ext cx="48234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1">
                <a:solidFill>
                  <a:srgbClr val="1F2937"/>
                </a:solidFill>
                <a:latin typeface="Georgia"/>
              </a:rPr>
              <a:t>Exams in-a-row / same-day / n-apart.  Mixed-duration exams sharing a room.  Large exams late in the session.  Period and room weighting.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6B7280"/>
                </a:solidFill>
                <a:latin typeface="Calibri"/>
              </a:rPr>
              <a:t>NP-HARD (GRAPH COLORING FORMULATION)   ·   NO POLYNOMIAL-TIME ALGORITHM KNOWN   ·   FEASIBILITY FIRST, THEN MINIMIZE SOFT PENALTY</a:t>
            </a:r>
          </a:p>
        </p:txBody>
      </p:sp>
      <p:sp>
        <p:nvSpPr>
          <p:cNvPr id="20" name="!!rq_q1"/>
          <p:cNvSpPr txBox="1"/>
          <p:nvPr/>
        </p:nvSpPr>
        <p:spPr>
          <a:xfrm>
            <a:off x="822960" y="7406640"/>
            <a:ext cx="1600200" cy="1783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7200" b="1" i="0">
                <a:solidFill>
                  <a:srgbClr val="0B2545"/>
                </a:solidFill>
                <a:latin typeface="Georgia"/>
              </a:rPr>
              <a:t>Q1</a:t>
            </a:r>
          </a:p>
        </p:txBody>
      </p:sp>
      <p:sp>
        <p:nvSpPr>
          <p:cNvPr id="21" name="!!rq_q2"/>
          <p:cNvSpPr txBox="1"/>
          <p:nvPr/>
        </p:nvSpPr>
        <p:spPr>
          <a:xfrm>
            <a:off x="6530187" y="7635240"/>
            <a:ext cx="1600200" cy="1783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7200" b="1" i="0">
                <a:solidFill>
                  <a:srgbClr val="D4A63F"/>
                </a:solidFill>
                <a:latin typeface="Georgia"/>
              </a:rPr>
              <a:t>Q2</a:t>
            </a:r>
          </a:p>
        </p:txBody>
      </p:sp>
      <p:sp>
        <p:nvSpPr>
          <p:cNvPr id="22" name="!!rq_q3"/>
          <p:cNvSpPr txBox="1"/>
          <p:nvPr/>
        </p:nvSpPr>
        <p:spPr>
          <a:xfrm>
            <a:off x="822960" y="7863840"/>
            <a:ext cx="1600200" cy="1783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7200" b="1" i="0">
                <a:solidFill>
                  <a:srgbClr val="D24938"/>
                </a:solidFill>
                <a:latin typeface="Georgia"/>
              </a:rPr>
              <a:t>Q3</a:t>
            </a:r>
          </a:p>
        </p:txBody>
      </p:sp>
      <p:sp>
        <p:nvSpPr>
          <p:cNvPr id="23" name="!!rq_q4"/>
          <p:cNvSpPr txBox="1"/>
          <p:nvPr/>
        </p:nvSpPr>
        <p:spPr>
          <a:xfrm>
            <a:off x="6530187" y="8092440"/>
            <a:ext cx="1600200" cy="1783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7200" b="1" i="0">
                <a:solidFill>
                  <a:srgbClr val="1F2937"/>
                </a:solidFill>
                <a:latin typeface="Georgia"/>
              </a:rPr>
              <a:t>Q4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page_counter"/>
          <p:cNvSpPr txBox="1"/>
          <p:nvPr/>
        </p:nvSpPr>
        <p:spPr>
          <a:xfrm>
            <a:off x="9265615" y="4572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1">
                <a:solidFill>
                  <a:srgbClr val="6B7280"/>
                </a:solidFill>
                <a:latin typeface="Georgia"/>
              </a:rPr>
              <a:t>№ 03 / 16</a:t>
            </a:r>
          </a:p>
        </p:txBody>
      </p:sp>
      <p:sp>
        <p:nvSpPr>
          <p:cNvPr id="3" name="!!bar_title"/>
          <p:cNvSpPr txBox="1"/>
          <p:nvPr/>
        </p:nvSpPr>
        <p:spPr>
          <a:xfrm>
            <a:off x="548640" y="502920"/>
            <a:ext cx="8686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0B2545"/>
                </a:solidFill>
                <a:latin typeface="Georgia"/>
              </a:rPr>
              <a:t>Four research questions</a:t>
            </a:r>
          </a:p>
        </p:txBody>
      </p:sp>
      <p:sp>
        <p:nvSpPr>
          <p:cNvPr id="4" name="!!bar_rule"/>
          <p:cNvSpPr/>
          <p:nvPr/>
        </p:nvSpPr>
        <p:spPr>
          <a:xfrm>
            <a:off x="548640" y="1078992"/>
            <a:ext cx="320040" cy="3810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!!bar_kicker"/>
          <p:cNvSpPr txBox="1"/>
          <p:nvPr/>
        </p:nvSpPr>
        <p:spPr>
          <a:xfrm>
            <a:off x="1005840" y="10058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AGENDA</a:t>
            </a:r>
          </a:p>
        </p:txBody>
      </p:sp>
      <p:sp>
        <p:nvSpPr>
          <p:cNvPr id="6" name="!!footer_byline"/>
          <p:cNvSpPr txBox="1"/>
          <p:nvPr/>
        </p:nvSpPr>
        <p:spPr>
          <a:xfrm>
            <a:off x="548640" y="6537960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6B7280"/>
                </a:solidFill>
                <a:latin typeface="Calibri"/>
              </a:rPr>
              <a:t>Exam Timetabling at Scale  ·  Le &amp; Cronin  ·  ITC 2007</a:t>
            </a:r>
          </a:p>
        </p:txBody>
      </p:sp>
      <p:sp>
        <p:nvSpPr>
          <p:cNvPr id="7" name="!!headline"/>
          <p:cNvSpPr txBox="1"/>
          <p:nvPr/>
        </p:nvSpPr>
        <p:spPr>
          <a:xfrm>
            <a:off x="548640" y="15087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F2937"/>
                </a:solidFill>
                <a:latin typeface="Georgia"/>
              </a:rPr>
              <a:t>One benchmark, thirteen algorithms — four directions this deck defends.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94560"/>
            <a:ext cx="5387187" cy="1874520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76200" dist="25400" dir="5400000" rotWithShape="0">
              <a:srgbClr val="0B254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!!fam_navy"/>
          <p:cNvSpPr/>
          <p:nvPr/>
        </p:nvSpPr>
        <p:spPr>
          <a:xfrm>
            <a:off x="548640" y="2194560"/>
            <a:ext cx="73152" cy="18745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!!rq_q1"/>
          <p:cNvSpPr txBox="1"/>
          <p:nvPr/>
        </p:nvSpPr>
        <p:spPr>
          <a:xfrm>
            <a:off x="822960" y="2240280"/>
            <a:ext cx="1600200" cy="1783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7200" b="1" i="0">
                <a:solidFill>
                  <a:srgbClr val="0B2545"/>
                </a:solidFill>
                <a:latin typeface="Georgia"/>
              </a:rPr>
              <a:t>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2514600"/>
            <a:ext cx="332978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2545"/>
                </a:solidFill>
                <a:latin typeface="Calibri"/>
              </a:rPr>
              <a:t>SCALING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2880360"/>
            <a:ext cx="3329787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1">
                <a:solidFill>
                  <a:srgbClr val="1F2937"/>
                </a:solidFill>
                <a:latin typeface="Georgia"/>
              </a:rPr>
              <a:t>How does each algorithm's runtime</a:t>
            </a:r>
          </a:p>
          <a:p>
            <a:pPr algn="l">
              <a:lnSpc>
                <a:spcPct val="135000"/>
              </a:lnSpc>
            </a:pPr>
            <a:r>
              <a:rPr sz="1400" b="0" i="1">
                <a:solidFill>
                  <a:srgbClr val="1F2937"/>
                </a:solidFill>
                <a:latin typeface="Georgia"/>
              </a:rPr>
              <a:t>scale from 50 to 1 000 exams?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55867" y="2194560"/>
            <a:ext cx="5387187" cy="1874520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76200" dist="25400" dir="5400000" rotWithShape="0">
              <a:srgbClr val="0B254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!!fam_gold"/>
          <p:cNvSpPr/>
          <p:nvPr/>
        </p:nvSpPr>
        <p:spPr>
          <a:xfrm>
            <a:off x="6255867" y="2194560"/>
            <a:ext cx="73152" cy="187452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!!rq_q2"/>
          <p:cNvSpPr txBox="1"/>
          <p:nvPr/>
        </p:nvSpPr>
        <p:spPr>
          <a:xfrm>
            <a:off x="6530187" y="2240280"/>
            <a:ext cx="1600200" cy="1783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7200" b="1" i="0">
                <a:solidFill>
                  <a:srgbClr val="D4A63F"/>
                </a:solidFill>
                <a:latin typeface="Georgia"/>
              </a:rPr>
              <a:t>Q2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1827" y="2514600"/>
            <a:ext cx="332978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D4A63F"/>
                </a:solidFill>
                <a:latin typeface="Calibri"/>
              </a:rPr>
              <a:t>PARETO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1827" y="2880360"/>
            <a:ext cx="3329787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1">
                <a:solidFill>
                  <a:srgbClr val="1F2937"/>
                </a:solidFill>
                <a:latin typeface="Georgia"/>
              </a:rPr>
              <a:t>Where does each sit on the</a:t>
            </a:r>
          </a:p>
          <a:p>
            <a:pPr algn="l">
              <a:lnSpc>
                <a:spcPct val="135000"/>
              </a:lnSpc>
            </a:pPr>
            <a:r>
              <a:rPr sz="1400" b="0" i="1">
                <a:solidFill>
                  <a:srgbClr val="1F2937"/>
                </a:solidFill>
                <a:latin typeface="Georgia"/>
              </a:rPr>
              <a:t>quality-vs-runtime frontier?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343400"/>
            <a:ext cx="5387187" cy="1874520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76200" dist="25400" dir="5400000" rotWithShape="0">
              <a:srgbClr val="0B254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!!fam_red"/>
          <p:cNvSpPr/>
          <p:nvPr/>
        </p:nvSpPr>
        <p:spPr>
          <a:xfrm>
            <a:off x="548640" y="4343400"/>
            <a:ext cx="73152" cy="1874520"/>
          </a:xfrm>
          <a:prstGeom prst="rect">
            <a:avLst/>
          </a:prstGeom>
          <a:solidFill>
            <a:srgbClr val="D24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!!rq_q3"/>
          <p:cNvSpPr txBox="1"/>
          <p:nvPr/>
        </p:nvSpPr>
        <p:spPr>
          <a:xfrm>
            <a:off x="822960" y="4389120"/>
            <a:ext cx="1600200" cy="1783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7200" b="1" i="0">
                <a:solidFill>
                  <a:srgbClr val="D24938"/>
                </a:solidFill>
                <a:latin typeface="Georgia"/>
              </a:rPr>
              <a:t>Q3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14600" y="4663440"/>
            <a:ext cx="332978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D24938"/>
                </a:solidFill>
                <a:latin typeface="Calibri"/>
              </a:rPr>
              <a:t>SENSITIVITY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4600" y="5029200"/>
            <a:ext cx="3329787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1">
                <a:solidFill>
                  <a:srgbClr val="1F2937"/>
                </a:solidFill>
                <a:latin typeface="Georgia"/>
              </a:rPr>
              <a:t>Which tunable knob matters most,</a:t>
            </a:r>
          </a:p>
          <a:p>
            <a:pPr algn="l">
              <a:lnSpc>
                <a:spcPct val="135000"/>
              </a:lnSpc>
            </a:pPr>
            <a:r>
              <a:rPr sz="1400" b="0" i="1">
                <a:solidFill>
                  <a:srgbClr val="1F2937"/>
                </a:solidFill>
                <a:latin typeface="Georgia"/>
              </a:rPr>
              <a:t>per algorithm?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5867" y="4343400"/>
            <a:ext cx="5387187" cy="1874520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76200" dist="25400" dir="5400000" rotWithShape="0">
              <a:srgbClr val="0B2545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!!fam_charcoal"/>
          <p:cNvSpPr/>
          <p:nvPr/>
        </p:nvSpPr>
        <p:spPr>
          <a:xfrm>
            <a:off x="6255867" y="4343400"/>
            <a:ext cx="73152" cy="18745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!!rq_q4"/>
          <p:cNvSpPr txBox="1"/>
          <p:nvPr/>
        </p:nvSpPr>
        <p:spPr>
          <a:xfrm>
            <a:off x="6530187" y="4389120"/>
            <a:ext cx="1600200" cy="1783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7200" b="1" i="0">
                <a:solidFill>
                  <a:srgbClr val="1F2937"/>
                </a:solidFill>
                <a:latin typeface="Georgia"/>
              </a:rPr>
              <a:t>Q4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1827" y="4663440"/>
            <a:ext cx="332978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RELIABILITY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1827" y="5029200"/>
            <a:ext cx="3329787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1">
                <a:solidFill>
                  <a:srgbClr val="1F2937"/>
                </a:solidFill>
                <a:latin typeface="Georgia"/>
              </a:rPr>
              <a:t>Does CP-SAT degrade gradually</a:t>
            </a:r>
          </a:p>
          <a:p>
            <a:pPr algn="l">
              <a:lnSpc>
                <a:spcPct val="135000"/>
              </a:lnSpc>
            </a:pPr>
            <a:r>
              <a:rPr sz="1400" b="0" i="1">
                <a:solidFill>
                  <a:srgbClr val="1F2937"/>
                </a:solidFill>
                <a:latin typeface="Georgia"/>
              </a:rPr>
              <a:t>or fall off a cliff?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page_counter"/>
          <p:cNvSpPr txBox="1"/>
          <p:nvPr/>
        </p:nvSpPr>
        <p:spPr>
          <a:xfrm>
            <a:off x="9265615" y="4572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1">
                <a:solidFill>
                  <a:srgbClr val="6B7280"/>
                </a:solidFill>
                <a:latin typeface="Georgia"/>
              </a:rPr>
              <a:t>№ 04 / 16</a:t>
            </a:r>
          </a:p>
        </p:txBody>
      </p:sp>
      <p:sp>
        <p:nvSpPr>
          <p:cNvPr id="3" name="!!bar_title"/>
          <p:cNvSpPr txBox="1"/>
          <p:nvPr/>
        </p:nvSpPr>
        <p:spPr>
          <a:xfrm>
            <a:off x="548640" y="502920"/>
            <a:ext cx="8686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0B2545"/>
                </a:solidFill>
                <a:latin typeface="Georgia"/>
              </a:rPr>
              <a:t>A portfolio of thirteen</a:t>
            </a:r>
          </a:p>
        </p:txBody>
      </p:sp>
      <p:sp>
        <p:nvSpPr>
          <p:cNvPr id="4" name="!!bar_rule"/>
          <p:cNvSpPr/>
          <p:nvPr/>
        </p:nvSpPr>
        <p:spPr>
          <a:xfrm>
            <a:off x="548640" y="1078992"/>
            <a:ext cx="320040" cy="3810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!!bar_kicker"/>
          <p:cNvSpPr txBox="1"/>
          <p:nvPr/>
        </p:nvSpPr>
        <p:spPr>
          <a:xfrm>
            <a:off x="1005840" y="10058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APPROACH</a:t>
            </a:r>
          </a:p>
        </p:txBody>
      </p:sp>
      <p:sp>
        <p:nvSpPr>
          <p:cNvPr id="6" name="!!footer_byline"/>
          <p:cNvSpPr txBox="1"/>
          <p:nvPr/>
        </p:nvSpPr>
        <p:spPr>
          <a:xfrm>
            <a:off x="548640" y="6537960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6B7280"/>
                </a:solidFill>
                <a:latin typeface="Calibri"/>
              </a:rPr>
              <a:t>Exam Timetabling at Scale  ·  Le &amp; Cronin  ·  ITC 2007</a:t>
            </a:r>
          </a:p>
        </p:txBody>
      </p:sp>
      <p:sp>
        <p:nvSpPr>
          <p:cNvPr id="7" name="!!headline"/>
          <p:cNvSpPr txBox="1"/>
          <p:nvPr/>
        </p:nvSpPr>
        <p:spPr>
          <a:xfrm>
            <a:off x="548640" y="15087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F2937"/>
                </a:solidFill>
                <a:latin typeface="Georgia"/>
              </a:rPr>
              <a:t>One C++20 solver — four algorithm families, thirteen members.</a:t>
            </a:r>
          </a:p>
        </p:txBody>
      </p:sp>
      <p:sp>
        <p:nvSpPr>
          <p:cNvPr id="8" name="!!fam_gold"/>
          <p:cNvSpPr/>
          <p:nvPr/>
        </p:nvSpPr>
        <p:spPr>
          <a:xfrm>
            <a:off x="548640" y="2194560"/>
            <a:ext cx="2567863" cy="45720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2567863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</a:rPr>
              <a:t>Construction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97480"/>
            <a:ext cx="256786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D4A63F"/>
                </a:solidFill>
                <a:latin typeface="Calibri"/>
              </a:rPr>
              <a:t>1 algo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017520"/>
            <a:ext cx="2567863" cy="3337560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76200" dist="25400" dir="5400000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127248"/>
            <a:ext cx="229354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B2545"/>
                </a:solidFill>
                <a:latin typeface="Calibri"/>
              </a:rPr>
              <a:t>Greedy (DSatur)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328416"/>
            <a:ext cx="2293543" cy="576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280"/>
                </a:solidFill>
                <a:latin typeface="Calibri"/>
              </a:rPr>
              <a:t>Saturation-degree graph coloring — a single pass.</a:t>
            </a:r>
          </a:p>
        </p:txBody>
      </p:sp>
      <p:sp>
        <p:nvSpPr>
          <p:cNvPr id="14" name="!!fam_navy"/>
          <p:cNvSpPr/>
          <p:nvPr/>
        </p:nvSpPr>
        <p:spPr>
          <a:xfrm>
            <a:off x="3390823" y="2194560"/>
            <a:ext cx="2567863" cy="4572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390823" y="2194560"/>
            <a:ext cx="2567863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</a:rPr>
              <a:t>Trajectory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0823" y="2697480"/>
            <a:ext cx="256786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0B2545"/>
                </a:solidFill>
                <a:latin typeface="Calibri"/>
              </a:rPr>
              <a:t>7 algos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90823" y="3017520"/>
            <a:ext cx="2567863" cy="3337560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76200" dist="25400" dir="5400000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527983" y="3127248"/>
            <a:ext cx="229354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B2545"/>
                </a:solidFill>
                <a:latin typeface="Calibri"/>
              </a:rPr>
              <a:t>Tabu 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7983" y="3328416"/>
            <a:ext cx="229354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B7280"/>
                </a:solidFill>
                <a:latin typeface="Calibri"/>
              </a:rPr>
              <a:t>Feasibility-first swap + room-only moves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7983" y="3584448"/>
            <a:ext cx="229354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B2545"/>
                </a:solidFill>
                <a:latin typeface="Calibri"/>
              </a:rPr>
              <a:t>Simulated Annealing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7983" y="3785616"/>
            <a:ext cx="229354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B7280"/>
                </a:solidFill>
                <a:latin typeface="Calibri"/>
              </a:rPr>
              <a:t>Multi-neighbourhood geometric cooling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7983" y="4041648"/>
            <a:ext cx="229354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B2545"/>
                </a:solidFill>
                <a:latin typeface="Calibri"/>
              </a:rPr>
              <a:t>Kempe Chain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7983" y="4242816"/>
            <a:ext cx="229354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B7280"/>
                </a:solidFill>
                <a:latin typeface="Calibri"/>
              </a:rPr>
              <a:t>Conflict-chain period swaps, SA acceptance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7983" y="4498848"/>
            <a:ext cx="229354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B2545"/>
                </a:solidFill>
                <a:latin typeface="Calibri"/>
              </a:rPr>
              <a:t>Great Deluge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7983" y="4700016"/>
            <a:ext cx="229354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B7280"/>
                </a:solidFill>
                <a:latin typeface="Calibri"/>
              </a:rPr>
              <a:t>Linearly decaying acceptance level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7983" y="4956048"/>
            <a:ext cx="229354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B2545"/>
                </a:solidFill>
                <a:latin typeface="Calibri"/>
              </a:rPr>
              <a:t>LAHC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7983" y="5157216"/>
            <a:ext cx="229354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B7280"/>
                </a:solidFill>
                <a:latin typeface="Calibri"/>
              </a:rPr>
              <a:t>Late-acceptance hill climbing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27983" y="5413248"/>
            <a:ext cx="229354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B2545"/>
                </a:solidFill>
                <a:latin typeface="Calibri"/>
              </a:rPr>
              <a:t>ALNS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7983" y="5614416"/>
            <a:ext cx="229354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B7280"/>
                </a:solidFill>
                <a:latin typeface="Calibri"/>
              </a:rPr>
              <a:t>Adaptive destroy-and-repair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7983" y="5870448"/>
            <a:ext cx="229354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B2545"/>
                </a:solidFill>
                <a:latin typeface="Calibri"/>
              </a:rPr>
              <a:t>GVNS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7983" y="6071616"/>
            <a:ext cx="229354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B7280"/>
                </a:solidFill>
                <a:latin typeface="Calibri"/>
              </a:rPr>
              <a:t>Variable neighbourhood + SA kernel</a:t>
            </a:r>
          </a:p>
        </p:txBody>
      </p:sp>
      <p:sp>
        <p:nvSpPr>
          <p:cNvPr id="32" name="!!fam_red"/>
          <p:cNvSpPr/>
          <p:nvPr/>
        </p:nvSpPr>
        <p:spPr>
          <a:xfrm>
            <a:off x="6233006" y="2194560"/>
            <a:ext cx="2567863" cy="457200"/>
          </a:xfrm>
          <a:prstGeom prst="rect">
            <a:avLst/>
          </a:prstGeom>
          <a:solidFill>
            <a:srgbClr val="D24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233006" y="2194560"/>
            <a:ext cx="2567863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</a:rPr>
              <a:t>Population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33006" y="2697480"/>
            <a:ext cx="256786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D24938"/>
                </a:solidFill>
                <a:latin typeface="Calibri"/>
              </a:rPr>
              <a:t>4 algos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33006" y="3017520"/>
            <a:ext cx="2567863" cy="3337560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76200" dist="25400" dir="5400000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370166" y="3127248"/>
            <a:ext cx="229354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B2545"/>
                </a:solidFill>
                <a:latin typeface="Calibri"/>
              </a:rPr>
              <a:t>Genetic Alg.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0166" y="3328416"/>
            <a:ext cx="2293543" cy="576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280"/>
                </a:solidFill>
                <a:latin typeface="Calibri"/>
              </a:rPr>
              <a:t>Memetic GA — Kempe mutation + DSatur crossover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70166" y="3904488"/>
            <a:ext cx="229354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B2545"/>
                </a:solidFill>
                <a:latin typeface="Calibri"/>
              </a:rPr>
              <a:t>ABC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70166" y="4105656"/>
            <a:ext cx="2293543" cy="576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280"/>
                </a:solidFill>
                <a:latin typeface="Calibri"/>
              </a:rPr>
              <a:t>Artificial Bee Colony — multi-move bees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70166" y="4681728"/>
            <a:ext cx="229354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B2545"/>
                </a:solidFill>
                <a:latin typeface="Calibri"/>
              </a:rPr>
              <a:t>WOA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70166" y="4882896"/>
            <a:ext cx="2293543" cy="576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280"/>
                </a:solidFill>
                <a:latin typeface="Calibri"/>
              </a:rPr>
              <a:t>Whale Optimization — spiral + encircling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166" y="5458968"/>
            <a:ext cx="229354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B2545"/>
                </a:solidFill>
                <a:latin typeface="Calibri"/>
              </a:rPr>
              <a:t>HHO+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166" y="5660136"/>
            <a:ext cx="2293543" cy="576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280"/>
                </a:solidFill>
                <a:latin typeface="Calibri"/>
              </a:rPr>
              <a:t>Harris Hawks + Lévy flight + local refinement</a:t>
            </a:r>
          </a:p>
        </p:txBody>
      </p:sp>
      <p:sp>
        <p:nvSpPr>
          <p:cNvPr id="44" name="!!fam_charcoal"/>
          <p:cNvSpPr/>
          <p:nvPr/>
        </p:nvSpPr>
        <p:spPr>
          <a:xfrm>
            <a:off x="9075189" y="2194560"/>
            <a:ext cx="2567863" cy="4572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075189" y="2194560"/>
            <a:ext cx="2567863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</a:rPr>
              <a:t>Exact / Hybrid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75189" y="2697480"/>
            <a:ext cx="256786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1 algo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75189" y="3017520"/>
            <a:ext cx="2567863" cy="3337560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76200" dist="25400" dir="5400000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212349" y="3127248"/>
            <a:ext cx="2293543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B2545"/>
                </a:solidFill>
                <a:latin typeface="Calibri"/>
              </a:rPr>
              <a:t>CP-SAT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2349" y="3328416"/>
            <a:ext cx="2293543" cy="576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280"/>
                </a:solidFill>
                <a:latin typeface="Calibri"/>
              </a:rPr>
              <a:t>OR-Tools BnB — 300 s cap in IP-only batch, 120 s in the main cross-algorithm batch.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page_counter"/>
          <p:cNvSpPr txBox="1"/>
          <p:nvPr/>
        </p:nvSpPr>
        <p:spPr>
          <a:xfrm>
            <a:off x="9265615" y="4572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1">
                <a:solidFill>
                  <a:srgbClr val="6B7280"/>
                </a:solidFill>
                <a:latin typeface="Georgia"/>
              </a:rPr>
              <a:t>№ 05 / 16</a:t>
            </a:r>
          </a:p>
        </p:txBody>
      </p:sp>
      <p:sp>
        <p:nvSpPr>
          <p:cNvPr id="3" name="!!bar_title"/>
          <p:cNvSpPr txBox="1"/>
          <p:nvPr/>
        </p:nvSpPr>
        <p:spPr>
          <a:xfrm>
            <a:off x="548640" y="502920"/>
            <a:ext cx="8686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0B2545"/>
                </a:solidFill>
                <a:latin typeface="Georgia"/>
              </a:rPr>
              <a:t>Fast enough to benchmark</a:t>
            </a:r>
          </a:p>
        </p:txBody>
      </p:sp>
      <p:sp>
        <p:nvSpPr>
          <p:cNvPr id="4" name="!!bar_rule"/>
          <p:cNvSpPr/>
          <p:nvPr/>
        </p:nvSpPr>
        <p:spPr>
          <a:xfrm>
            <a:off x="548640" y="1078992"/>
            <a:ext cx="320040" cy="3810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!!bar_kicker"/>
          <p:cNvSpPr txBox="1"/>
          <p:nvPr/>
        </p:nvSpPr>
        <p:spPr>
          <a:xfrm>
            <a:off x="1005840" y="10058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METHODOLOGY</a:t>
            </a:r>
          </a:p>
        </p:txBody>
      </p:sp>
      <p:sp>
        <p:nvSpPr>
          <p:cNvPr id="6" name="!!footer_byline"/>
          <p:cNvSpPr txBox="1"/>
          <p:nvPr/>
        </p:nvSpPr>
        <p:spPr>
          <a:xfrm>
            <a:off x="548640" y="6537960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6B7280"/>
                </a:solidFill>
                <a:latin typeface="Calibri"/>
              </a:rPr>
              <a:t>Exam Timetabling at Scale  ·  Le &amp; Cronin  ·  ITC 2007</a:t>
            </a:r>
          </a:p>
        </p:txBody>
      </p:sp>
      <p:sp>
        <p:nvSpPr>
          <p:cNvPr id="7" name="!!headline"/>
          <p:cNvSpPr txBox="1"/>
          <p:nvPr/>
        </p:nvSpPr>
        <p:spPr>
          <a:xfrm>
            <a:off x="548640" y="15087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F2937"/>
                </a:solidFill>
                <a:latin typeface="Georgia"/>
              </a:rPr>
              <a:t>Engineering that makes the comparison fair and the numbers reproducible.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40280"/>
            <a:ext cx="3545738" cy="9144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331720"/>
            <a:ext cx="3545738" cy="2834640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01600" dist="25400" dir="5400000" rotWithShape="0">
              <a:srgbClr val="0B2545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685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D4A63F"/>
                </a:solidFill>
                <a:latin typeface="Georgia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624328"/>
            <a:ext cx="249417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B2545"/>
                </a:solidFill>
                <a:latin typeface="Georgia"/>
              </a:rPr>
              <a:t>Delta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00400"/>
            <a:ext cx="299709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1F2937"/>
                </a:solidFill>
                <a:latin typeface="Calibri"/>
              </a:rPr>
              <a:t>Every local-search move computes Δcost in O(k), not O(n²).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886200"/>
            <a:ext cx="457200" cy="1524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4023360"/>
            <a:ext cx="2997098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B7280"/>
                </a:solidFill>
                <a:latin typeface="Calibri"/>
              </a:rPr>
              <a:t>Single biggest speed-up. Every trajectory method leans on it; without Δ, 10 000-iter runs simply would not complete.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2978" y="2240280"/>
            <a:ext cx="3545738" cy="9144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22978" y="2331720"/>
            <a:ext cx="3545738" cy="2834640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01600" dist="25400" dir="5400000" rotWithShape="0">
              <a:srgbClr val="0B2545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51578" y="2514600"/>
            <a:ext cx="685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B2545"/>
                </a:solidFill>
                <a:latin typeface="Georgia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91658" y="2624328"/>
            <a:ext cx="249417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B2545"/>
                </a:solidFill>
                <a:latin typeface="Georgia"/>
              </a:rPr>
              <a:t>Warm-start chains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7298" y="3200400"/>
            <a:ext cx="299709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1F2937"/>
                </a:solidFill>
                <a:latin typeface="Calibri"/>
              </a:rPr>
              <a:t>--init-solution pipes one algorithm's output into the next.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7298" y="3886200"/>
            <a:ext cx="457200" cy="1524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97298" y="4023360"/>
            <a:ext cx="2997098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B7280"/>
                </a:solidFill>
                <a:latin typeface="Calibri"/>
              </a:rPr>
              <a:t>Chain-finder searches over chains: successive halving ladder + prefix cache + 1-point crossover selects alns → kempe → tabu.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97316" y="2240280"/>
            <a:ext cx="3545738" cy="91440"/>
          </a:xfrm>
          <a:prstGeom prst="rect">
            <a:avLst/>
          </a:prstGeom>
          <a:solidFill>
            <a:srgbClr val="D24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97316" y="2331720"/>
            <a:ext cx="3545738" cy="2834640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01600" dist="25400" dir="5400000" rotWithShape="0">
              <a:srgbClr val="0B2545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25916" y="2514600"/>
            <a:ext cx="685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D24938"/>
                </a:solidFill>
                <a:latin typeface="Georgia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5996" y="2624328"/>
            <a:ext cx="249417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B2545"/>
                </a:solidFill>
                <a:latin typeface="Georgia"/>
              </a:rPr>
              <a:t>Auto-tuner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1636" y="3200400"/>
            <a:ext cx="299709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1F2937"/>
                </a:solidFill>
                <a:latin typeface="Calibri"/>
              </a:rPr>
              <a:t>4-phase pipeline — screen, tune, chain-hunt, multi-seed validate.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71636" y="3886200"/>
            <a:ext cx="457200" cy="15240"/>
          </a:xfrm>
          <a:prstGeom prst="rect">
            <a:avLst/>
          </a:prstGeom>
          <a:solidFill>
            <a:srgbClr val="D24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371636" y="4023360"/>
            <a:ext cx="2997098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6B7280"/>
                </a:solidFill>
                <a:latin typeface="Calibri"/>
              </a:rPr>
              <a:t>Global mode normalises per-dataset and uses geometric mean. Gated updates: no single dataset may regress more than 15 %.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440680"/>
            <a:ext cx="11064240" cy="914400"/>
          </a:xfrm>
          <a:prstGeom prst="rect">
            <a:avLst/>
          </a:prstGeom>
          <a:solidFill>
            <a:srgbClr val="0B2545"/>
          </a:solidFill>
          <a:ln>
            <a:noFill/>
          </a:ln>
          <a:effectLst>
            <a:outerShdw blurRad="101600" dist="25400" dir="5400000" rotWithShape="0">
              <a:srgbClr val="0B254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2960" y="555040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D4A63F"/>
                </a:solidFill>
                <a:latin typeface="Calibri"/>
              </a:rPr>
              <a:t>BENCHMARK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80644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FFFFFF"/>
                </a:solidFill>
                <a:latin typeface="Calibri"/>
              </a:rPr>
              <a:t>ITC 2007 Examination Track — 8 real instances (242 to 1 096 exams) + synthetic generator.  Every algorithm runs on every set; 3 seeds each; final table reports mean ± std.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page_counter"/>
          <p:cNvSpPr txBox="1"/>
          <p:nvPr/>
        </p:nvSpPr>
        <p:spPr>
          <a:xfrm>
            <a:off x="9265615" y="4572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1">
                <a:solidFill>
                  <a:srgbClr val="6B7280"/>
                </a:solidFill>
                <a:latin typeface="Georgia"/>
              </a:rPr>
              <a:t>№ 06 / 16</a:t>
            </a:r>
          </a:p>
        </p:txBody>
      </p:sp>
      <p:sp>
        <p:nvSpPr>
          <p:cNvPr id="3" name="!!bar_title"/>
          <p:cNvSpPr txBox="1"/>
          <p:nvPr/>
        </p:nvSpPr>
        <p:spPr>
          <a:xfrm>
            <a:off x="548640" y="502920"/>
            <a:ext cx="8686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0B2545"/>
                </a:solidFill>
                <a:latin typeface="Georgia"/>
              </a:rPr>
              <a:t>How each algorithm scales</a:t>
            </a:r>
          </a:p>
        </p:txBody>
      </p:sp>
      <p:sp>
        <p:nvSpPr>
          <p:cNvPr id="4" name="!!bar_rule"/>
          <p:cNvSpPr/>
          <p:nvPr/>
        </p:nvSpPr>
        <p:spPr>
          <a:xfrm>
            <a:off x="548640" y="1078992"/>
            <a:ext cx="320040" cy="3810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!!bar_kicker"/>
          <p:cNvSpPr txBox="1"/>
          <p:nvPr/>
        </p:nvSpPr>
        <p:spPr>
          <a:xfrm>
            <a:off x="1005840" y="10058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METHODOLOGY  ·  RUNTIME COMPLEXITY</a:t>
            </a:r>
          </a:p>
        </p:txBody>
      </p:sp>
      <p:sp>
        <p:nvSpPr>
          <p:cNvPr id="6" name="!!footer_byline"/>
          <p:cNvSpPr txBox="1"/>
          <p:nvPr/>
        </p:nvSpPr>
        <p:spPr>
          <a:xfrm>
            <a:off x="548640" y="6537960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6B7280"/>
                </a:solidFill>
                <a:latin typeface="Calibri"/>
              </a:rPr>
              <a:t>Exam Timetabling at Scale  ·  Le &amp; Cronin  ·  ITC 2007</a:t>
            </a:r>
          </a:p>
        </p:txBody>
      </p:sp>
      <p:sp>
        <p:nvSpPr>
          <p:cNvPr id="7" name="!!headline"/>
          <p:cNvSpPr txBox="1"/>
          <p:nvPr/>
        </p:nvSpPr>
        <p:spPr>
          <a:xfrm>
            <a:off x="548640" y="15087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F2937"/>
                </a:solidFill>
                <a:latin typeface="Georgia"/>
              </a:rPr>
              <a:t>Theoretical Θ per iteration  ·  empirical mean runtime at n = 1 000.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40280"/>
            <a:ext cx="541004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4A63F"/>
                </a:solidFill>
                <a:latin typeface="Calibri"/>
              </a:rPr>
              <a:t>THEORETICAL  Θ  PER ITERATION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2606040"/>
          <a:ext cx="5410046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53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17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230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Algorithm</a:t>
                      </a:r>
                    </a:p>
                  </a:txBody>
                  <a:tcPr marL="73152" marR="73152" marT="36576" marB="36576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Inner loop</a:t>
                      </a:r>
                    </a:p>
                  </a:txBody>
                  <a:tcPr marL="73152" marR="73152" marT="36576" marB="36576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Θ (iter)</a:t>
                      </a:r>
                    </a:p>
                  </a:txBody>
                  <a:tcPr marL="73152" marR="73152" marT="36576" marB="36576" anchor="ctr"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Greedy (DSatur)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single pass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Θ(n + m)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Tabu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swap + Δcost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Θ(k)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SA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sample + Δcost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Θ(k)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Kempe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chain + swap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Θ(n + c)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Great Deluge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sample + Δcost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Θ(k)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LAHC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Δcost + history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Θ(k)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ALNS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destroy + repair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Θ(k log n)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GVNS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shake + SA kernel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Θ(N·T₁·k)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GA (memetic)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mutate + eval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Θ(n²)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ABC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P bees × move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Θ(P·k)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WOA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pop × 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Θ(P·n)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HHO+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Lévy + refine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Θ(P·n)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5473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CP-SAT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branch &amp; bound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exp. worst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33007" y="2240280"/>
            <a:ext cx="541004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4A63F"/>
                </a:solidFill>
                <a:latin typeface="Calibri"/>
              </a:rPr>
              <a:t>EMPIRICAL FLOOR  ·  MEAN RUNTIME @ n = 1 000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33007" y="2606040"/>
          <a:ext cx="5410046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45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30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25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Algorithm</a:t>
                      </a:r>
                    </a:p>
                  </a:txBody>
                  <a:tcPr marL="73152" marR="73152" marT="36576" marB="36576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Mean (s)</a:t>
                      </a:r>
                    </a:p>
                  </a:txBody>
                  <a:tcPr marL="73152" marR="73152" marT="36576" marB="36576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Feasible?</a:t>
                      </a:r>
                    </a:p>
                  </a:txBody>
                  <a:tcPr marL="73152" marR="73152" marT="36576" marB="36576" anchor="ctr"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Greedy (DSatur)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0.76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Tabu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16.75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SA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2.39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Kempe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15.60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Great Deluge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2.08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LAHC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2.48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ALNS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40.36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GVNS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10.98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GA (memetic)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5.11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ABC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86.10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WOA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92.68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47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HHO+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64.36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5473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CP-SAT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4.26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6263640"/>
            <a:ext cx="1109441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B7280"/>
                </a:solidFill>
                <a:latin typeface="Calibri"/>
              </a:rPr>
              <a:t>Empirical from colab_batch_scaling, 3 seeds at n = 1 000.  Θ treats T, P, k, c as independent parameters.</a:t>
            </a:r>
          </a:p>
        </p:txBody>
      </p:sp>
      <p:pic>
        <p:nvPicPr>
          <p:cNvPr id="13" name="!!scaling_fig" descr="fig4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30516" y="2148840"/>
            <a:ext cx="7381157" cy="28346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page_counter"/>
          <p:cNvSpPr txBox="1"/>
          <p:nvPr/>
        </p:nvSpPr>
        <p:spPr>
          <a:xfrm>
            <a:off x="9265615" y="4572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1">
                <a:solidFill>
                  <a:srgbClr val="6B7280"/>
                </a:solidFill>
                <a:latin typeface="Georgia"/>
              </a:rPr>
              <a:t>№ 07 / 16</a:t>
            </a:r>
          </a:p>
        </p:txBody>
      </p:sp>
      <p:sp>
        <p:nvSpPr>
          <p:cNvPr id="3" name="!!bar_title"/>
          <p:cNvSpPr txBox="1"/>
          <p:nvPr/>
        </p:nvSpPr>
        <p:spPr>
          <a:xfrm>
            <a:off x="548640" y="502920"/>
            <a:ext cx="8686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0B2545"/>
                </a:solidFill>
                <a:latin typeface="Georgia"/>
              </a:rPr>
              <a:t>Runtime scales cleanly — until it doesn't</a:t>
            </a:r>
          </a:p>
        </p:txBody>
      </p:sp>
      <p:sp>
        <p:nvSpPr>
          <p:cNvPr id="4" name="!!bar_rule"/>
          <p:cNvSpPr/>
          <p:nvPr/>
        </p:nvSpPr>
        <p:spPr>
          <a:xfrm>
            <a:off x="548640" y="1078992"/>
            <a:ext cx="320040" cy="3810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!!bar_kicker"/>
          <p:cNvSpPr txBox="1"/>
          <p:nvPr/>
        </p:nvSpPr>
        <p:spPr>
          <a:xfrm>
            <a:off x="1005840" y="10058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RQ1  ·  SCALING</a:t>
            </a:r>
          </a:p>
        </p:txBody>
      </p:sp>
      <p:sp>
        <p:nvSpPr>
          <p:cNvPr id="6" name="!!footer_byline"/>
          <p:cNvSpPr txBox="1"/>
          <p:nvPr/>
        </p:nvSpPr>
        <p:spPr>
          <a:xfrm>
            <a:off x="548640" y="6537960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6B7280"/>
                </a:solidFill>
                <a:latin typeface="Calibri"/>
              </a:rPr>
              <a:t>Exam Timetabling at Scale  ·  Le &amp; Cronin  ·  ITC 2007</a:t>
            </a:r>
          </a:p>
        </p:txBody>
      </p:sp>
      <p:sp>
        <p:nvSpPr>
          <p:cNvPr id="7" name="!!headline"/>
          <p:cNvSpPr txBox="1"/>
          <p:nvPr/>
        </p:nvSpPr>
        <p:spPr>
          <a:xfrm>
            <a:off x="548640" y="15087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F2937"/>
                </a:solidFill>
                <a:latin typeface="Georgia"/>
              </a:rPr>
              <a:t>Most algorithms are linear or near-linear in n; Construction stays cheap but its quality does not.</a:t>
            </a:r>
          </a:p>
        </p:txBody>
      </p:sp>
      <p:pic>
        <p:nvPicPr>
          <p:cNvPr id="8" name="!!scaling_fig" descr="fig4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0181" y="2148840"/>
            <a:ext cx="7381157" cy="2834640"/>
          </a:xfrm>
          <a:prstGeom prst="rect">
            <a:avLst/>
          </a:prstGeom>
          <a:effectLst>
            <a:outerShdw blurRad="127000" dist="38100" dir="5400000" rotWithShape="0">
              <a:srgbClr val="0B2545">
                <a:alpha val="16000"/>
              </a:srgbClr>
            </a:outerShdw>
          </a:effectLst>
        </p:spPr>
      </p:pic>
      <p:sp>
        <p:nvSpPr>
          <p:cNvPr id="9" name="TextBox 8"/>
          <p:cNvSpPr txBox="1"/>
          <p:nvPr/>
        </p:nvSpPr>
        <p:spPr>
          <a:xfrm>
            <a:off x="548640" y="5001768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280"/>
                </a:solidFill>
                <a:latin typeface="Calibri"/>
              </a:rPr>
              <a:t>Runtime (log-log, left) and soft penalty (right) vs problem size, grouped by algorithm family.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394960"/>
            <a:ext cx="2683764" cy="457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5440680"/>
            <a:ext cx="2683764" cy="960120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27000" dist="38100" dir="5400000" rotWithShape="0">
              <a:srgbClr val="0B2545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5568696"/>
            <a:ext cx="222656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B2545"/>
                </a:solidFill>
                <a:latin typeface="Georgia"/>
              </a:rPr>
              <a:t>TRAJECTORY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5897880"/>
            <a:ext cx="365760" cy="1524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5971032"/>
            <a:ext cx="2226564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1F2937"/>
                </a:solidFill>
                <a:latin typeface="Calibri"/>
              </a:rPr>
              <a:t>Nearly linear — Δ-evaluation keeps per-move cost flat.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42132" y="5394960"/>
            <a:ext cx="2683764" cy="4572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342132" y="5440680"/>
            <a:ext cx="2683764" cy="960120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27000" dist="38100" dir="5400000" rotWithShape="0">
              <a:srgbClr val="0B2545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70732" y="5568696"/>
            <a:ext cx="222656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D4A63F"/>
                </a:solidFill>
                <a:latin typeface="Georgia"/>
              </a:rPr>
              <a:t>CONSTRUCTION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70732" y="5897880"/>
            <a:ext cx="365760" cy="1524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570732" y="5971032"/>
            <a:ext cx="2226564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1F2937"/>
                </a:solidFill>
                <a:latin typeface="Calibri"/>
              </a:rPr>
              <a:t>Cheapest by 2 orders of magnitude; quality blows up on dense sets.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35624" y="5394960"/>
            <a:ext cx="2683764" cy="45720"/>
          </a:xfrm>
          <a:prstGeom prst="rect">
            <a:avLst/>
          </a:prstGeom>
          <a:solidFill>
            <a:srgbClr val="D24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135624" y="5440680"/>
            <a:ext cx="2683764" cy="960120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27000" dist="38100" dir="5400000" rotWithShape="0">
              <a:srgbClr val="0B2545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64224" y="5568696"/>
            <a:ext cx="222656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D24938"/>
                </a:solidFill>
                <a:latin typeface="Georgia"/>
              </a:rPr>
              <a:t>POPULATION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64224" y="5897880"/>
            <a:ext cx="365760" cy="15240"/>
          </a:xfrm>
          <a:prstGeom prst="rect">
            <a:avLst/>
          </a:prstGeom>
          <a:solidFill>
            <a:srgbClr val="D24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64224" y="5971032"/>
            <a:ext cx="2226564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1F2937"/>
                </a:solidFill>
                <a:latin typeface="Calibri"/>
              </a:rPr>
              <a:t>Dominated by pop × evaluator — steepest runtime slope.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29116" y="5394960"/>
            <a:ext cx="2683764" cy="457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929116" y="5440680"/>
            <a:ext cx="2683764" cy="960120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27000" dist="38100" dir="5400000" rotWithShape="0">
              <a:srgbClr val="0B2545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57716" y="5568696"/>
            <a:ext cx="222656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7"/>
                </a:solidFill>
                <a:latin typeface="Georgia"/>
              </a:rPr>
              <a:t>EXACT / HYBRID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57716" y="5897880"/>
            <a:ext cx="365760" cy="1524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57716" y="5971032"/>
            <a:ext cx="2226564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1F2937"/>
                </a:solidFill>
                <a:latin typeface="Calibri"/>
              </a:rPr>
              <a:t>Omitted — returns incumbents (no proof) above n ≈ 900; not a scaling comparison.</a:t>
            </a:r>
          </a:p>
        </p:txBody>
      </p:sp>
      <p:pic>
        <p:nvPicPr>
          <p:cNvPr id="30" name="!!pareto_fig" descr="fig1_pare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7815023" y="2194560"/>
            <a:ext cx="6303165" cy="374903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page_counter"/>
          <p:cNvSpPr txBox="1"/>
          <p:nvPr/>
        </p:nvSpPr>
        <p:spPr>
          <a:xfrm>
            <a:off x="9265615" y="4572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1">
                <a:solidFill>
                  <a:srgbClr val="6B7280"/>
                </a:solidFill>
                <a:latin typeface="Georgia"/>
              </a:rPr>
              <a:t>№ 08 / 16</a:t>
            </a:r>
          </a:p>
        </p:txBody>
      </p:sp>
      <p:sp>
        <p:nvSpPr>
          <p:cNvPr id="3" name="!!bar_title"/>
          <p:cNvSpPr txBox="1"/>
          <p:nvPr/>
        </p:nvSpPr>
        <p:spPr>
          <a:xfrm>
            <a:off x="548640" y="502920"/>
            <a:ext cx="8686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0B2545"/>
                </a:solidFill>
                <a:latin typeface="Georgia"/>
              </a:rPr>
              <a:t>The Pareto frontier</a:t>
            </a:r>
          </a:p>
        </p:txBody>
      </p:sp>
      <p:sp>
        <p:nvSpPr>
          <p:cNvPr id="4" name="!!bar_rule"/>
          <p:cNvSpPr/>
          <p:nvPr/>
        </p:nvSpPr>
        <p:spPr>
          <a:xfrm>
            <a:off x="548640" y="1078992"/>
            <a:ext cx="320040" cy="3810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!!bar_kicker"/>
          <p:cNvSpPr txBox="1"/>
          <p:nvPr/>
        </p:nvSpPr>
        <p:spPr>
          <a:xfrm>
            <a:off x="1005840" y="10058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RQ2  ·  QUALITY VS RUNTIME</a:t>
            </a:r>
          </a:p>
        </p:txBody>
      </p:sp>
      <p:sp>
        <p:nvSpPr>
          <p:cNvPr id="6" name="!!footer_byline"/>
          <p:cNvSpPr txBox="1"/>
          <p:nvPr/>
        </p:nvSpPr>
        <p:spPr>
          <a:xfrm>
            <a:off x="548640" y="6537960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6B7280"/>
                </a:solidFill>
                <a:latin typeface="Calibri"/>
              </a:rPr>
              <a:t>Exam Timetabling at Scale  ·  Le &amp; Cronin  ·  ITC 2007</a:t>
            </a:r>
          </a:p>
        </p:txBody>
      </p:sp>
      <p:sp>
        <p:nvSpPr>
          <p:cNvPr id="7" name="!!headline"/>
          <p:cNvSpPr txBox="1"/>
          <p:nvPr/>
        </p:nvSpPr>
        <p:spPr>
          <a:xfrm>
            <a:off x="548640" y="15087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F2937"/>
                </a:solidFill>
                <a:latin typeface="Georgia"/>
              </a:rPr>
              <a:t>Trajectory methods own the bottom-left corner — best quality per second spent.</a:t>
            </a:r>
          </a:p>
        </p:txBody>
      </p:sp>
      <p:pic>
        <p:nvPicPr>
          <p:cNvPr id="8" name="!!pareto_fig" descr="fig1_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1817" y="2194560"/>
            <a:ext cx="6303165" cy="3749039"/>
          </a:xfrm>
          <a:prstGeom prst="rect">
            <a:avLst/>
          </a:prstGeom>
          <a:effectLst>
            <a:outerShdw blurRad="127000" dist="38100" dir="5400000" rotWithShape="0">
              <a:srgbClr val="0B2545">
                <a:alpha val="16000"/>
              </a:srgbClr>
            </a:outerShdw>
          </a:effectLst>
        </p:spPr>
      </p:pic>
      <p:sp>
        <p:nvSpPr>
          <p:cNvPr id="9" name="TextBox 8"/>
          <p:cNvSpPr txBox="1"/>
          <p:nvPr/>
        </p:nvSpPr>
        <p:spPr>
          <a:xfrm>
            <a:off x="777240" y="5961887"/>
            <a:ext cx="7132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280"/>
                </a:solidFill>
                <a:latin typeface="Calibri"/>
              </a:rPr>
              <a:t>Pareto frontier, synthetic n = 1000. Bottom-left dominates.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80" y="2194560"/>
            <a:ext cx="345917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4A63F"/>
                </a:solidFill>
                <a:latin typeface="Calibri"/>
              </a:rPr>
              <a:t>FRONTIER MEMBERS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3880" y="2560320"/>
            <a:ext cx="68580" cy="1018031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52460" y="2560320"/>
            <a:ext cx="1578711" cy="1018031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01600" dist="25400" dir="5400000" rotWithShape="0">
              <a:srgbClr val="0B2545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39912" y="2697480"/>
            <a:ext cx="1299819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B2545"/>
                </a:solidFill>
                <a:latin typeface="Georgia"/>
              </a:rPr>
              <a:t>Tabu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9912" y="3090672"/>
            <a:ext cx="1299819" cy="4236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B7280"/>
                </a:solidFill>
                <a:latin typeface="Calibri"/>
              </a:rPr>
              <a:t>Best quality / time on small–medium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995763" y="2560320"/>
            <a:ext cx="68580" cy="1018031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0064343" y="2560320"/>
            <a:ext cx="1578711" cy="1018031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01600" dist="25400" dir="5400000" rotWithShape="0">
              <a:srgbClr val="0B2545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251795" y="2697480"/>
            <a:ext cx="1299819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B2545"/>
                </a:solidFill>
                <a:latin typeface="Georgia"/>
              </a:rPr>
              <a:t>GVNS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51795" y="3090672"/>
            <a:ext cx="1299819" cy="4236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B7280"/>
                </a:solidFill>
                <a:latin typeface="Calibri"/>
              </a:rPr>
              <a:t>Close second; lowest family rank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80" y="3742943"/>
            <a:ext cx="68580" cy="1018031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252460" y="3742943"/>
            <a:ext cx="1578711" cy="1018031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01600" dist="25400" dir="5400000" rotWithShape="0">
              <a:srgbClr val="0B2545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39912" y="3880103"/>
            <a:ext cx="1299819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B2545"/>
                </a:solidFill>
                <a:latin typeface="Georgia"/>
              </a:rPr>
              <a:t>Kempe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9912" y="4273295"/>
            <a:ext cx="1299819" cy="4236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B7280"/>
                </a:solidFill>
                <a:latin typeface="Calibri"/>
              </a:rPr>
              <a:t>Tight runner-up on dense sets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995763" y="3742943"/>
            <a:ext cx="68580" cy="1018031"/>
          </a:xfrm>
          <a:prstGeom prst="rect">
            <a:avLst/>
          </a:prstGeom>
          <a:solidFill>
            <a:srgbClr val="D24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10064343" y="3742943"/>
            <a:ext cx="1578711" cy="1018031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01600" dist="25400" dir="5400000" rotWithShape="0">
              <a:srgbClr val="0B2545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251795" y="3880103"/>
            <a:ext cx="1299819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D24938"/>
                </a:solidFill>
                <a:latin typeface="Georgia"/>
              </a:rPr>
              <a:t>ABC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51795" y="4273295"/>
            <a:ext cx="1299819" cy="4236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B7280"/>
                </a:solidFill>
                <a:latin typeface="Calibri"/>
              </a:rPr>
              <a:t>Only Population member near frontier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83880" y="4925566"/>
            <a:ext cx="68580" cy="1018031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252460" y="4925566"/>
            <a:ext cx="1578711" cy="1018031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01600" dist="25400" dir="5400000" rotWithShape="0">
              <a:srgbClr val="0B2545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39912" y="5062726"/>
            <a:ext cx="1299819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D4A63F"/>
                </a:solidFill>
                <a:latin typeface="Georgia"/>
              </a:rPr>
              <a:t>Greedy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39912" y="5455918"/>
            <a:ext cx="1299819" cy="4236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B7280"/>
                </a:solidFill>
                <a:latin typeface="Calibri"/>
              </a:rPr>
              <a:t>Speed extremum — quality extremum too</a:t>
            </a:r>
          </a:p>
        </p:txBody>
      </p:sp>
      <p:pic>
        <p:nvPicPr>
          <p:cNvPr id="31" name="!!family_fig" descr="fig2_family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373612" y="2148840"/>
            <a:ext cx="4883384" cy="40233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page_counter"/>
          <p:cNvSpPr txBox="1"/>
          <p:nvPr/>
        </p:nvSpPr>
        <p:spPr>
          <a:xfrm>
            <a:off x="9265615" y="4572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1">
                <a:solidFill>
                  <a:srgbClr val="6B7280"/>
                </a:solidFill>
                <a:latin typeface="Georgia"/>
              </a:rPr>
              <a:t>№ 09 / 16</a:t>
            </a:r>
          </a:p>
        </p:txBody>
      </p:sp>
      <p:sp>
        <p:nvSpPr>
          <p:cNvPr id="3" name="!!bar_title"/>
          <p:cNvSpPr txBox="1"/>
          <p:nvPr/>
        </p:nvSpPr>
        <p:spPr>
          <a:xfrm>
            <a:off x="548640" y="502920"/>
            <a:ext cx="8686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0B2545"/>
                </a:solidFill>
                <a:latin typeface="Georgia"/>
              </a:rPr>
              <a:t>Who wins where</a:t>
            </a:r>
          </a:p>
        </p:txBody>
      </p:sp>
      <p:sp>
        <p:nvSpPr>
          <p:cNvPr id="4" name="!!bar_rule"/>
          <p:cNvSpPr/>
          <p:nvPr/>
        </p:nvSpPr>
        <p:spPr>
          <a:xfrm>
            <a:off x="548640" y="1078992"/>
            <a:ext cx="320040" cy="3810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!!bar_kicker"/>
          <p:cNvSpPr txBox="1"/>
          <p:nvPr/>
        </p:nvSpPr>
        <p:spPr>
          <a:xfrm>
            <a:off x="1005840" y="10058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RESULTS  ·  FAMILY DOMINANCE</a:t>
            </a:r>
          </a:p>
        </p:txBody>
      </p:sp>
      <p:sp>
        <p:nvSpPr>
          <p:cNvPr id="6" name="!!footer_byline"/>
          <p:cNvSpPr txBox="1"/>
          <p:nvPr/>
        </p:nvSpPr>
        <p:spPr>
          <a:xfrm>
            <a:off x="548640" y="6537960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6B7280"/>
                </a:solidFill>
                <a:latin typeface="Calibri"/>
              </a:rPr>
              <a:t>Exam Timetabling at Scale  ·  Le &amp; Cronin  ·  ITC 2007</a:t>
            </a:r>
          </a:p>
        </p:txBody>
      </p:sp>
      <p:sp>
        <p:nvSpPr>
          <p:cNvPr id="7" name="!!headline"/>
          <p:cNvSpPr txBox="1"/>
          <p:nvPr/>
        </p:nvSpPr>
        <p:spPr>
          <a:xfrm>
            <a:off x="548640" y="15087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F2937"/>
                </a:solidFill>
                <a:latin typeface="Georgia"/>
              </a:rPr>
              <a:t>Trajectory takes every instance. Tabu leads the family; ABC dominates Population 7-of-8.</a:t>
            </a:r>
          </a:p>
        </p:txBody>
      </p:sp>
      <p:pic>
        <p:nvPicPr>
          <p:cNvPr id="8" name="!!family_fig" descr="fig2_family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588" y="2148840"/>
            <a:ext cx="4883384" cy="4023360"/>
          </a:xfrm>
          <a:prstGeom prst="rect">
            <a:avLst/>
          </a:prstGeom>
          <a:effectLst>
            <a:outerShdw blurRad="127000" dist="38100" dir="5400000" rotWithShape="0">
              <a:srgbClr val="0B2545">
                <a:alpha val="16000"/>
              </a:srgbClr>
            </a:outerShdw>
          </a:effectLst>
        </p:spPr>
      </p:pic>
      <p:sp>
        <p:nvSpPr>
          <p:cNvPr id="9" name="TextBox 8"/>
          <p:cNvSpPr txBox="1"/>
          <p:nvPr/>
        </p:nvSpPr>
        <p:spPr>
          <a:xfrm>
            <a:off x="548640" y="6172200"/>
            <a:ext cx="5669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280"/>
                </a:solidFill>
                <a:latin typeface="Calibri"/>
              </a:rPr>
              <a:t>Normalised soft penalty; green = in-family winner per instance. F-Rank (right) = mean rank within family (lower = better); Population has 4 members, Trajectory 7.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148840"/>
            <a:ext cx="505937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4A63F"/>
                </a:solidFill>
                <a:latin typeface="Calibri"/>
              </a:rPr>
              <a:t>WITHIN-FAMILY LEADERS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2532888"/>
            <a:ext cx="109728" cy="882396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693408" y="2532888"/>
            <a:ext cx="4949647" cy="882396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27000" dist="38100" dir="5400000" rotWithShape="0">
              <a:srgbClr val="0B2545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0" y="2532888"/>
            <a:ext cx="960120" cy="8823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5200" b="1" i="0">
                <a:solidFill>
                  <a:srgbClr val="0B2545"/>
                </a:solidFill>
                <a:latin typeface="Georgia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2642616"/>
            <a:ext cx="373349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280"/>
                </a:solidFill>
                <a:latin typeface="Calibri"/>
              </a:rPr>
              <a:t>TRAJECTORY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2880360"/>
            <a:ext cx="373349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B2545"/>
                </a:solidFill>
                <a:latin typeface="Georgia"/>
              </a:rPr>
              <a:t>Tabu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3122676"/>
            <a:ext cx="373349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280"/>
                </a:solidFill>
                <a:latin typeface="Calibri"/>
              </a:rPr>
              <a:t>F-Rank 2.12   ·   Wins 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3543300"/>
            <a:ext cx="109728" cy="882396"/>
          </a:xfrm>
          <a:prstGeom prst="rect">
            <a:avLst/>
          </a:prstGeom>
          <a:solidFill>
            <a:srgbClr val="D24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693408" y="3543300"/>
            <a:ext cx="4949647" cy="882396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27000" dist="38100" dir="5400000" rotWithShape="0">
              <a:srgbClr val="0B2545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0" y="3543300"/>
            <a:ext cx="960120" cy="8823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5200" b="1" i="0">
                <a:solidFill>
                  <a:srgbClr val="D24938"/>
                </a:solidFill>
                <a:latin typeface="Georgia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3653028"/>
            <a:ext cx="373349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280"/>
                </a:solidFill>
                <a:latin typeface="Calibri"/>
              </a:rPr>
              <a:t>POPULATION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3890772"/>
            <a:ext cx="373349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B2545"/>
                </a:solidFill>
                <a:latin typeface="Georgia"/>
              </a:rPr>
              <a:t>ABC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4133088"/>
            <a:ext cx="373349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280"/>
                </a:solidFill>
                <a:latin typeface="Calibri"/>
              </a:rPr>
              <a:t>F-Rank 1.12   ·   Wins 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4553712"/>
            <a:ext cx="109728" cy="882396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693408" y="4553712"/>
            <a:ext cx="4949647" cy="882396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27000" dist="38100" dir="5400000" rotWithShape="0">
              <a:srgbClr val="0B2545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766560" y="4553712"/>
            <a:ext cx="960120" cy="8823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5200" b="1" i="0">
                <a:solidFill>
                  <a:srgbClr val="D4A63F"/>
                </a:solidFill>
                <a:latin typeface="Georgia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8120" y="4663440"/>
            <a:ext cx="373349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280"/>
                </a:solidFill>
                <a:latin typeface="Calibri"/>
              </a:rPr>
              <a:t>CONSTRUCTION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8120" y="4901184"/>
            <a:ext cx="373349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B2545"/>
                </a:solidFill>
                <a:latin typeface="Georgia"/>
              </a:rPr>
              <a:t>Greedy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18120" y="5143500"/>
            <a:ext cx="373349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280"/>
                </a:solidFill>
                <a:latin typeface="Calibri"/>
              </a:rPr>
              <a:t>F-Rank —   ·   Wins 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5564124"/>
            <a:ext cx="109728" cy="882396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693408" y="5564124"/>
            <a:ext cx="4949647" cy="882396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27000" dist="38100" dir="5400000" rotWithShape="0">
              <a:srgbClr val="0B2545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766560" y="5564124"/>
            <a:ext cx="960120" cy="8823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0000"/>
              </a:lnSpc>
            </a:pPr>
            <a:r>
              <a:rPr sz="5200" b="1" i="0">
                <a:solidFill>
                  <a:srgbClr val="1F2937"/>
                </a:solidFill>
                <a:latin typeface="Georgia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8120" y="5673852"/>
            <a:ext cx="373349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280"/>
                </a:solidFill>
                <a:latin typeface="Calibri"/>
              </a:rPr>
              <a:t>EXACT / HYBRID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18120" y="5911596"/>
            <a:ext cx="373349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B2545"/>
                </a:solidFill>
                <a:latin typeface="Georgia"/>
              </a:rPr>
              <a:t>CP-SAT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18120" y="6153912"/>
            <a:ext cx="373349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280"/>
                </a:solidFill>
                <a:latin typeface="Calibri"/>
              </a:rPr>
              <a:t>F-Rank —   ·   Wins —</a:t>
            </a:r>
          </a:p>
        </p:txBody>
      </p:sp>
      <p:pic>
        <p:nvPicPr>
          <p:cNvPr id="35" name="!!sens_fig" descr="fig5_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985" y="7955280"/>
            <a:ext cx="7497389" cy="369417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page_counter"/>
          <p:cNvSpPr txBox="1"/>
          <p:nvPr/>
        </p:nvSpPr>
        <p:spPr>
          <a:xfrm>
            <a:off x="9265615" y="4572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1">
                <a:solidFill>
                  <a:srgbClr val="6B7280"/>
                </a:solidFill>
                <a:latin typeface="Georgia"/>
              </a:rPr>
              <a:t>№ 10 / 16</a:t>
            </a:r>
          </a:p>
        </p:txBody>
      </p:sp>
      <p:sp>
        <p:nvSpPr>
          <p:cNvPr id="3" name="!!bar_title"/>
          <p:cNvSpPr txBox="1"/>
          <p:nvPr/>
        </p:nvSpPr>
        <p:spPr>
          <a:xfrm>
            <a:off x="548640" y="502920"/>
            <a:ext cx="8686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0B2545"/>
                </a:solidFill>
                <a:latin typeface="Georgia"/>
              </a:rPr>
              <a:t>Which knob matters?</a:t>
            </a:r>
          </a:p>
        </p:txBody>
      </p:sp>
      <p:sp>
        <p:nvSpPr>
          <p:cNvPr id="4" name="!!bar_rule"/>
          <p:cNvSpPr/>
          <p:nvPr/>
        </p:nvSpPr>
        <p:spPr>
          <a:xfrm>
            <a:off x="548640" y="1078992"/>
            <a:ext cx="320040" cy="3810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!!bar_kicker"/>
          <p:cNvSpPr txBox="1"/>
          <p:nvPr/>
        </p:nvSpPr>
        <p:spPr>
          <a:xfrm>
            <a:off x="1005840" y="10058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RQ3  ·  PARAMETER SENSITIVITY</a:t>
            </a:r>
          </a:p>
        </p:txBody>
      </p:sp>
      <p:sp>
        <p:nvSpPr>
          <p:cNvPr id="6" name="!!footer_byline"/>
          <p:cNvSpPr txBox="1"/>
          <p:nvPr/>
        </p:nvSpPr>
        <p:spPr>
          <a:xfrm>
            <a:off x="548640" y="6537960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6B7280"/>
                </a:solidFill>
                <a:latin typeface="Calibri"/>
              </a:rPr>
              <a:t>Exam Timetabling at Scale  ·  Le &amp; Cronin  ·  ITC 2007</a:t>
            </a:r>
          </a:p>
        </p:txBody>
      </p:sp>
      <p:sp>
        <p:nvSpPr>
          <p:cNvPr id="7" name="!!headline"/>
          <p:cNvSpPr txBox="1"/>
          <p:nvPr/>
        </p:nvSpPr>
        <p:spPr>
          <a:xfrm>
            <a:off x="548640" y="15087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F2937"/>
                </a:solidFill>
                <a:latin typeface="Georgia"/>
              </a:rPr>
              <a:t>Sensitivity  =  (max − min) / mean soft penalty across a 1-D sweep.</a:t>
            </a:r>
          </a:p>
        </p:txBody>
      </p:sp>
      <p:pic>
        <p:nvPicPr>
          <p:cNvPr id="8" name="!!sens_fig" descr="fig5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985" y="2194560"/>
            <a:ext cx="7497389" cy="3694176"/>
          </a:xfrm>
          <a:prstGeom prst="rect">
            <a:avLst/>
          </a:prstGeom>
          <a:effectLst>
            <a:outerShdw blurRad="127000" dist="38100" dir="5400000" rotWithShape="0">
              <a:srgbClr val="0B2545">
                <a:alpha val="16000"/>
              </a:srgbClr>
            </a:outerShdw>
          </a:effectLst>
        </p:spPr>
      </p:pic>
      <p:sp>
        <p:nvSpPr>
          <p:cNvPr id="9" name="TextBox 8"/>
          <p:cNvSpPr txBox="1"/>
          <p:nvPr/>
        </p:nvSpPr>
        <p:spPr>
          <a:xfrm>
            <a:off x="548640" y="5907024"/>
            <a:ext cx="749807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280"/>
                </a:solidFill>
                <a:latin typeface="Calibri"/>
              </a:rPr>
              <a:t>Left panel: iters sensitivity (universal). Right panel: top non-iters knob per algorithm.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39" y="2194560"/>
            <a:ext cx="332201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4A63F"/>
                </a:solidFill>
                <a:latin typeface="Calibri"/>
              </a:rPr>
              <a:t>DOMINANT KNOB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21039" y="2578608"/>
            <a:ext cx="3322016" cy="347472"/>
          </a:xfrm>
          <a:prstGeom prst="rect">
            <a:avLst/>
          </a:prstGeom>
          <a:solidFill>
            <a:srgbClr val="F3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321039" y="2578608"/>
            <a:ext cx="54864" cy="347472"/>
          </a:xfrm>
          <a:prstGeom prst="rect">
            <a:avLst/>
          </a:prstGeom>
          <a:solidFill>
            <a:srgbClr val="D24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03919" y="2578608"/>
            <a:ext cx="182710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D24938"/>
                </a:solidFill>
                <a:latin typeface="Georgia"/>
              </a:rPr>
              <a:t>ALNS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8147" y="2578608"/>
            <a:ext cx="1303806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1" i="0">
                <a:solidFill>
                  <a:srgbClr val="0B2545"/>
                </a:solidFill>
                <a:latin typeface="Georgia"/>
              </a:rPr>
              <a:t>swing 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21039" y="2962656"/>
            <a:ext cx="3322016" cy="347472"/>
          </a:xfrm>
          <a:prstGeom prst="rect">
            <a:avLst/>
          </a:prstGeom>
          <a:solidFill>
            <a:srgbClr val="F3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321039" y="2962656"/>
            <a:ext cx="54864" cy="34747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03919" y="2962656"/>
            <a:ext cx="182710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B2545"/>
                </a:solidFill>
                <a:latin typeface="Georgia"/>
              </a:rPr>
              <a:t>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8147" y="2962656"/>
            <a:ext cx="1303806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1" i="0">
                <a:solidFill>
                  <a:srgbClr val="0B2545"/>
                </a:solidFill>
                <a:latin typeface="Georgia"/>
              </a:rPr>
              <a:t>cooling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39" y="3346704"/>
            <a:ext cx="3322016" cy="347472"/>
          </a:xfrm>
          <a:prstGeom prst="rect">
            <a:avLst/>
          </a:prstGeom>
          <a:solidFill>
            <a:srgbClr val="F3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321039" y="3346704"/>
            <a:ext cx="54864" cy="347472"/>
          </a:xfrm>
          <a:prstGeom prst="rect">
            <a:avLst/>
          </a:prstGeom>
          <a:solidFill>
            <a:srgbClr val="D24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03919" y="3346704"/>
            <a:ext cx="182710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D24938"/>
                </a:solidFill>
                <a:latin typeface="Georgia"/>
              </a:rPr>
              <a:t>GA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8147" y="3346704"/>
            <a:ext cx="1303806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1" i="0">
                <a:solidFill>
                  <a:srgbClr val="0B2545"/>
                </a:solidFill>
                <a:latin typeface="Georgia"/>
              </a:rPr>
              <a:t>pop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21039" y="3730752"/>
            <a:ext cx="3322016" cy="347472"/>
          </a:xfrm>
          <a:prstGeom prst="rect">
            <a:avLst/>
          </a:prstGeom>
          <a:solidFill>
            <a:srgbClr val="F3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321039" y="3730752"/>
            <a:ext cx="54864" cy="34747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503919" y="3730752"/>
            <a:ext cx="182710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B2545"/>
                </a:solidFill>
                <a:latin typeface="Georgia"/>
              </a:rPr>
              <a:t>Tabu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8147" y="3730752"/>
            <a:ext cx="1303806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1" i="0">
                <a:solidFill>
                  <a:srgbClr val="0B2545"/>
                </a:solidFill>
                <a:latin typeface="Georgia"/>
              </a:rPr>
              <a:t>tenure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21039" y="4114800"/>
            <a:ext cx="3322016" cy="347472"/>
          </a:xfrm>
          <a:prstGeom prst="rect">
            <a:avLst/>
          </a:prstGeom>
          <a:solidFill>
            <a:srgbClr val="F3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321039" y="4114800"/>
            <a:ext cx="54864" cy="34747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503919" y="4114800"/>
            <a:ext cx="182710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B2545"/>
                </a:solidFill>
                <a:latin typeface="Georgia"/>
              </a:rPr>
              <a:t>Kempe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8147" y="4114800"/>
            <a:ext cx="1303806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1" i="0">
                <a:solidFill>
                  <a:srgbClr val="0B2545"/>
                </a:solidFill>
                <a:latin typeface="Georgia"/>
              </a:rPr>
              <a:t>periods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21039" y="4498848"/>
            <a:ext cx="3322016" cy="347472"/>
          </a:xfrm>
          <a:prstGeom prst="rect">
            <a:avLst/>
          </a:prstGeom>
          <a:solidFill>
            <a:srgbClr val="F3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321039" y="4498848"/>
            <a:ext cx="54864" cy="347472"/>
          </a:xfrm>
          <a:prstGeom prst="rect">
            <a:avLst/>
          </a:prstGeom>
          <a:solidFill>
            <a:srgbClr val="D24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503919" y="4498848"/>
            <a:ext cx="182710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D24938"/>
                </a:solidFill>
                <a:latin typeface="Georgia"/>
              </a:rPr>
              <a:t>ABC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48147" y="4498848"/>
            <a:ext cx="1303806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1" i="0">
                <a:solidFill>
                  <a:srgbClr val="0B2545"/>
                </a:solidFill>
                <a:latin typeface="Georgia"/>
              </a:rPr>
              <a:t>bees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39" y="5047488"/>
            <a:ext cx="3322016" cy="12070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1">
                <a:solidFill>
                  <a:srgbClr val="1F2937"/>
                </a:solidFill>
                <a:latin typeface="Calibri"/>
              </a:rPr>
              <a:t>Iters matter everywhere, but one per-family knob dominates the remaining variance — tune it first.</a:t>
            </a:r>
          </a:p>
        </p:txBody>
      </p:sp>
      <p:pic>
        <p:nvPicPr>
          <p:cNvPr id="36" name="!!chain_fig" descr="fig3_chain_methodolog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7863840" y="2317183"/>
            <a:ext cx="6766560" cy="29551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page_counter"/>
          <p:cNvSpPr txBox="1"/>
          <p:nvPr/>
        </p:nvSpPr>
        <p:spPr>
          <a:xfrm>
            <a:off x="9265615" y="4572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1">
                <a:solidFill>
                  <a:srgbClr val="6B7280"/>
                </a:solidFill>
                <a:latin typeface="Georgia"/>
              </a:rPr>
              <a:t>№ 11 / 16</a:t>
            </a:r>
          </a:p>
        </p:txBody>
      </p:sp>
      <p:sp>
        <p:nvSpPr>
          <p:cNvPr id="3" name="!!bar_title"/>
          <p:cNvSpPr txBox="1"/>
          <p:nvPr/>
        </p:nvSpPr>
        <p:spPr>
          <a:xfrm>
            <a:off x="548640" y="502920"/>
            <a:ext cx="8686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0B2545"/>
                </a:solidFill>
                <a:latin typeface="Georgia"/>
              </a:rPr>
              <a:t>The champion chain</a:t>
            </a:r>
          </a:p>
        </p:txBody>
      </p:sp>
      <p:sp>
        <p:nvSpPr>
          <p:cNvPr id="4" name="!!bar_rule"/>
          <p:cNvSpPr/>
          <p:nvPr/>
        </p:nvSpPr>
        <p:spPr>
          <a:xfrm>
            <a:off x="548640" y="1078992"/>
            <a:ext cx="320040" cy="3810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!!bar_kicker"/>
          <p:cNvSpPr txBox="1"/>
          <p:nvPr/>
        </p:nvSpPr>
        <p:spPr>
          <a:xfrm>
            <a:off x="1005840" y="10058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NOVEL CONTRIBUTION  ·  CHAIN-FINDER</a:t>
            </a:r>
          </a:p>
        </p:txBody>
      </p:sp>
      <p:sp>
        <p:nvSpPr>
          <p:cNvPr id="6" name="!!footer_byline"/>
          <p:cNvSpPr txBox="1"/>
          <p:nvPr/>
        </p:nvSpPr>
        <p:spPr>
          <a:xfrm>
            <a:off x="548640" y="6537960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6B7280"/>
                </a:solidFill>
                <a:latin typeface="Calibri"/>
              </a:rPr>
              <a:t>Exam Timetabling at Scale  ·  Le &amp; Cronin  ·  ITC 2007</a:t>
            </a:r>
          </a:p>
        </p:txBody>
      </p:sp>
      <p:sp>
        <p:nvSpPr>
          <p:cNvPr id="7" name="!!headline"/>
          <p:cNvSpPr txBox="1"/>
          <p:nvPr/>
        </p:nvSpPr>
        <p:spPr>
          <a:xfrm>
            <a:off x="548640" y="15087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F2937"/>
                </a:solidFill>
                <a:latin typeface="Georgia"/>
              </a:rPr>
              <a:t>alns → kempe → tabu — discovered by tournament, validated across all 8 sets.</a:t>
            </a:r>
          </a:p>
        </p:txBody>
      </p:sp>
      <p:pic>
        <p:nvPicPr>
          <p:cNvPr id="8" name="!!chain_fig" descr="fig3_chain_method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17183"/>
            <a:ext cx="6766560" cy="2955154"/>
          </a:xfrm>
          <a:prstGeom prst="rect">
            <a:avLst/>
          </a:prstGeom>
          <a:effectLst>
            <a:outerShdw blurRad="127000" dist="38100" dir="5400000" rotWithShape="0">
              <a:srgbClr val="0B2545">
                <a:alpha val="16000"/>
              </a:srgbClr>
            </a:outerShdw>
          </a:effectLst>
        </p:spPr>
      </p:pic>
      <p:sp>
        <p:nvSpPr>
          <p:cNvPr id="9" name="TextBox 8"/>
          <p:cNvSpPr txBox="1"/>
          <p:nvPr/>
        </p:nvSpPr>
        <p:spPr>
          <a:xfrm>
            <a:off x="548640" y="5458968"/>
            <a:ext cx="6766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280"/>
                </a:solidFill>
                <a:latin typeface="Calibri"/>
              </a:rPr>
              <a:t>Successive-halving ladder + prefix cache + 1-point crossover → top-5 discovered chains.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148840"/>
            <a:ext cx="405353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D4A63F"/>
                </a:solidFill>
                <a:latin typeface="Calibri"/>
              </a:rPr>
              <a:t>TOP-5 CHAINS  (SCORE = NORMALISED GEOMEAN)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0" y="2532888"/>
            <a:ext cx="4053535" cy="969264"/>
          </a:xfrm>
          <a:prstGeom prst="rect">
            <a:avLst/>
          </a:prstGeom>
          <a:solidFill>
            <a:srgbClr val="0B2545"/>
          </a:solidFill>
          <a:ln>
            <a:noFill/>
          </a:ln>
          <a:effectLst>
            <a:outerShdw blurRad="127000" dist="38100" dir="5400000" rotWithShape="0">
              <a:srgbClr val="0B254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589520" y="2532888"/>
            <a:ext cx="82296" cy="969264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0" y="2532888"/>
            <a:ext cx="1188720" cy="9692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D4A63F"/>
                </a:solidFill>
                <a:latin typeface="Georgia"/>
              </a:rPr>
              <a:t>#1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2532888"/>
            <a:ext cx="1538935" cy="9692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Georgia"/>
              </a:rPr>
              <a:t>alns  →  kempe  →  tabu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91495" y="2532888"/>
            <a:ext cx="960120" cy="9692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1" i="0">
                <a:solidFill>
                  <a:srgbClr val="D4A63F"/>
                </a:solidFill>
                <a:latin typeface="Georgia"/>
              </a:rPr>
              <a:t>0.928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89520" y="3593592"/>
            <a:ext cx="4053535" cy="484632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01600" dist="25400" dir="5400000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589520" y="3593592"/>
            <a:ext cx="82296" cy="48463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90688" y="3593592"/>
            <a:ext cx="1188720" cy="484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B2545"/>
                </a:solidFill>
                <a:latin typeface="Georgia"/>
              </a:rPr>
              <a:t>#2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3593592"/>
            <a:ext cx="1538935" cy="484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kempe  →  tabu  →  alns  →  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91495" y="3593592"/>
            <a:ext cx="960120" cy="484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B2545"/>
                </a:solidFill>
                <a:latin typeface="Georgia"/>
              </a:rPr>
              <a:t>0.932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89520" y="4169664"/>
            <a:ext cx="4053535" cy="484632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01600" dist="25400" dir="5400000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589520" y="4169664"/>
            <a:ext cx="82296" cy="484632"/>
          </a:xfrm>
          <a:prstGeom prst="rect">
            <a:avLst/>
          </a:prstGeom>
          <a:solidFill>
            <a:srgbClr val="D24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90688" y="4169664"/>
            <a:ext cx="1188720" cy="484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D24938"/>
                </a:solidFill>
                <a:latin typeface="Georgia"/>
              </a:rPr>
              <a:t>#3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4169664"/>
            <a:ext cx="1538935" cy="484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kempe  →  kempe  →  tabu  →  abc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91495" y="4169664"/>
            <a:ext cx="960120" cy="484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B2545"/>
                </a:solidFill>
                <a:latin typeface="Georgia"/>
              </a:rPr>
              <a:t>0.933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89520" y="4745736"/>
            <a:ext cx="4053535" cy="484632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01600" dist="25400" dir="5400000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589520" y="4745736"/>
            <a:ext cx="82296" cy="48463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790688" y="4745736"/>
            <a:ext cx="1188720" cy="484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B2545"/>
                </a:solidFill>
                <a:latin typeface="Georgia"/>
              </a:rPr>
              <a:t>#4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4745736"/>
            <a:ext cx="1538935" cy="484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kempe  →  alns  →  kempe  →  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91495" y="4745736"/>
            <a:ext cx="960120" cy="484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B2545"/>
                </a:solidFill>
                <a:latin typeface="Georgia"/>
              </a:rPr>
              <a:t>0.949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89520" y="5321808"/>
            <a:ext cx="4053535" cy="484632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01600" dist="25400" dir="5400000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589520" y="5321808"/>
            <a:ext cx="82296" cy="48463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790688" y="5321808"/>
            <a:ext cx="1188720" cy="484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B2545"/>
                </a:solidFill>
                <a:latin typeface="Georgia"/>
              </a:rPr>
              <a:t>#5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5321808"/>
            <a:ext cx="1538935" cy="484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gd  →  vns  →  tabu  →  gd  →  alns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91495" y="5321808"/>
            <a:ext cx="960120" cy="484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B2545"/>
                </a:solidFill>
                <a:latin typeface="Georgia"/>
              </a:rPr>
              <a:t>0.973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89520" y="5989320"/>
            <a:ext cx="4053535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1">
                <a:solidFill>
                  <a:srgbClr val="6B7280"/>
                </a:solidFill>
                <a:latin typeface="Calibri"/>
              </a:rPr>
              <a:t>Chain-finder selects the shortest chain within 0.5 % of the best score — trades 3.5× fewer total iterations for a ≈ 0.5 % hit. ALNS diversifies, Kempe repairs period structure, Tabu polishes.</a:t>
            </a:r>
          </a:p>
        </p:txBody>
      </p:sp>
      <p:sp>
        <p:nvSpPr>
          <p:cNvPr id="37" name="!!cliff_teaser"/>
          <p:cNvSpPr txBox="1"/>
          <p:nvPr/>
        </p:nvSpPr>
        <p:spPr>
          <a:xfrm>
            <a:off x="-1371600" y="-137160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D24938"/>
                </a:solidFill>
                <a:latin typeface="Georgia"/>
              </a:rPr>
              <a:t>900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_rail"/>
          <p:cNvSpPr/>
          <p:nvPr/>
        </p:nvSpPr>
        <p:spPr>
          <a:xfrm>
            <a:off x="548640" y="457200"/>
            <a:ext cx="1280160" cy="3810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!!kicker_text"/>
          <p:cNvSpPr txBox="1"/>
          <p:nvPr/>
        </p:nvSpPr>
        <p:spPr>
          <a:xfrm>
            <a:off x="205740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4A63F"/>
                </a:solidFill>
                <a:latin typeface="Calibri"/>
              </a:rPr>
              <a:t>THE CLIFF   ·   RQ4  ·  EXACT SOLVER RELIABILITY</a:t>
            </a:r>
          </a:p>
        </p:txBody>
      </p:sp>
      <p:sp>
        <p:nvSpPr>
          <p:cNvPr id="4" name="!!page_counter"/>
          <p:cNvSpPr txBox="1"/>
          <p:nvPr/>
        </p:nvSpPr>
        <p:spPr>
          <a:xfrm>
            <a:off x="9814255" y="32004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0" i="1">
                <a:solidFill>
                  <a:srgbClr val="A5A092"/>
                </a:solidFill>
                <a:latin typeface="Georgia"/>
              </a:rPr>
              <a:t>№ 12 / 16</a:t>
            </a:r>
          </a:p>
        </p:txBody>
      </p:sp>
      <p:sp>
        <p:nvSpPr>
          <p:cNvPr id="5" name="!!footer_byline"/>
          <p:cNvSpPr txBox="1"/>
          <p:nvPr/>
        </p:nvSpPr>
        <p:spPr>
          <a:xfrm>
            <a:off x="548640" y="6537960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A5A092"/>
                </a:solidFill>
                <a:latin typeface="Calibri"/>
              </a:rPr>
              <a:t>Exam Timetabling at Scale  ·  Le &amp; Cronin  ·  ITC 2007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0944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 i="0">
                <a:solidFill>
                  <a:srgbClr val="F5EFE1"/>
                </a:solidFill>
                <a:latin typeface="Georgia"/>
              </a:rPr>
              <a:t>A reliability cliff, not a slope.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0" i="1">
                <a:solidFill>
                  <a:srgbClr val="A5A092"/>
                </a:solidFill>
                <a:latin typeface="Georgia"/>
              </a:rPr>
              <a:t>CP-SAT solves every instance ≤ 870 exams and fails every instance ≥ 934.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423160"/>
            <a:ext cx="3017520" cy="30480"/>
          </a:xfrm>
          <a:prstGeom prst="rect">
            <a:avLst/>
          </a:prstGeom>
          <a:solidFill>
            <a:srgbClr val="7DC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7DC37A"/>
                </a:solidFill>
                <a:latin typeface="Calibri"/>
              </a:rPr>
              <a:t>SOLVED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926080"/>
            <a:ext cx="30175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5EFE1"/>
                </a:solidFill>
                <a:latin typeface="Georgia"/>
              </a:rPr>
              <a:t>242–870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84048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A5A092"/>
                </a:solidFill>
                <a:latin typeface="Calibri"/>
              </a:rPr>
              <a:t>EXAMS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297679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1">
                <a:solidFill>
                  <a:srgbClr val="A5A092"/>
                </a:solidFill>
                <a:latin typeface="Georgia"/>
              </a:rPr>
              <a:t>All four instances solved to a non-improving incumbent inside the 300 s IP-batch budget — no timeouts in this band.</a:t>
            </a:r>
          </a:p>
        </p:txBody>
      </p:sp>
      <p:sp>
        <p:nvSpPr>
          <p:cNvPr id="13" name="!!cliff_teaser"/>
          <p:cNvSpPr txBox="1"/>
          <p:nvPr/>
        </p:nvSpPr>
        <p:spPr>
          <a:xfrm>
            <a:off x="4023360" y="2331720"/>
            <a:ext cx="4142232" cy="2743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5000" b="1" i="0">
                <a:solidFill>
                  <a:srgbClr val="D24938"/>
                </a:solidFill>
                <a:latin typeface="Georgia"/>
              </a:rPr>
              <a:t>900</a:t>
            </a:r>
          </a:p>
        </p:txBody>
      </p:sp>
      <p:sp>
        <p:nvSpPr>
          <p:cNvPr id="14" name="!!mega_number"/>
          <p:cNvSpPr/>
          <p:nvPr/>
        </p:nvSpPr>
        <p:spPr>
          <a:xfrm>
            <a:off x="4023360" y="2331720"/>
            <a:ext cx="4142232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023360" y="5166360"/>
            <a:ext cx="414223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D4A63F"/>
                </a:solidFill>
                <a:latin typeface="Calibri"/>
              </a:rPr>
              <a:t>EXAM THRESHOLD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28716" y="5532120"/>
            <a:ext cx="731520" cy="3048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442655" y="2423160"/>
            <a:ext cx="3017520" cy="30480"/>
          </a:xfrm>
          <a:prstGeom prst="rect">
            <a:avLst/>
          </a:prstGeom>
          <a:solidFill>
            <a:srgbClr val="D24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42655" y="256032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>
                <a:solidFill>
                  <a:srgbClr val="D24938"/>
                </a:solidFill>
                <a:latin typeface="Calibri"/>
              </a:rPr>
              <a:t>TIMED 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42655" y="2926080"/>
            <a:ext cx="30175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 i="0">
                <a:solidFill>
                  <a:srgbClr val="F5EFE1"/>
                </a:solidFill>
                <a:latin typeface="Georgia"/>
              </a:rPr>
              <a:t>934–1 096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42655" y="384048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A5A092"/>
                </a:solidFill>
                <a:latin typeface="Calibri"/>
              </a:rPr>
              <a:t>EXAMS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42655" y="4297679"/>
            <a:ext cx="30175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300" b="0" i="1">
                <a:solidFill>
                  <a:srgbClr val="A5A092"/>
                </a:solidFill>
                <a:latin typeface="Georgia"/>
              </a:rPr>
              <a:t>No proof returned inside the 300 s IP-batch budget for any instance in this band.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98932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A5A092"/>
                </a:solidFill>
                <a:latin typeface="Georgia"/>
              </a:rPr>
              <a:t>Above the cliff, heuristics are not merely faster — they are the only ones that finish.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page_counter"/>
          <p:cNvSpPr txBox="1"/>
          <p:nvPr/>
        </p:nvSpPr>
        <p:spPr>
          <a:xfrm>
            <a:off x="9265615" y="4572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1">
                <a:solidFill>
                  <a:srgbClr val="6B7280"/>
                </a:solidFill>
                <a:latin typeface="Georgia"/>
              </a:rPr>
              <a:t>№ 13 / 16</a:t>
            </a:r>
          </a:p>
        </p:txBody>
      </p:sp>
      <p:sp>
        <p:nvSpPr>
          <p:cNvPr id="3" name="!!bar_title"/>
          <p:cNvSpPr txBox="1"/>
          <p:nvPr/>
        </p:nvSpPr>
        <p:spPr>
          <a:xfrm>
            <a:off x="548640" y="502920"/>
            <a:ext cx="8686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0B2545"/>
                </a:solidFill>
                <a:latin typeface="Georgia"/>
              </a:rPr>
              <a:t>Gap to proven optimum</a:t>
            </a:r>
          </a:p>
        </p:txBody>
      </p:sp>
      <p:sp>
        <p:nvSpPr>
          <p:cNvPr id="4" name="!!bar_rule"/>
          <p:cNvSpPr/>
          <p:nvPr/>
        </p:nvSpPr>
        <p:spPr>
          <a:xfrm>
            <a:off x="548640" y="1078992"/>
            <a:ext cx="320040" cy="3810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!!bar_kicker"/>
          <p:cNvSpPr txBox="1"/>
          <p:nvPr/>
        </p:nvSpPr>
        <p:spPr>
          <a:xfrm>
            <a:off x="1005840" y="10058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RQ4  ·  CLOSING THE GAP</a:t>
            </a:r>
          </a:p>
        </p:txBody>
      </p:sp>
      <p:sp>
        <p:nvSpPr>
          <p:cNvPr id="6" name="!!footer_byline"/>
          <p:cNvSpPr txBox="1"/>
          <p:nvPr/>
        </p:nvSpPr>
        <p:spPr>
          <a:xfrm>
            <a:off x="548640" y="6537960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6B7280"/>
                </a:solidFill>
                <a:latin typeface="Calibri"/>
              </a:rPr>
              <a:t>Exam Timetabling at Scale  ·  Le &amp; Cronin  ·  ITC 2007</a:t>
            </a:r>
          </a:p>
        </p:txBody>
      </p:sp>
      <p:sp>
        <p:nvSpPr>
          <p:cNvPr id="7" name="!!headline"/>
          <p:cNvSpPr txBox="1"/>
          <p:nvPr/>
        </p:nvSpPr>
        <p:spPr>
          <a:xfrm>
            <a:off x="548640" y="15087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F2937"/>
                </a:solidFill>
                <a:latin typeface="Georgia"/>
              </a:rPr>
              <a:t>On 7 instances with a CP-SAT proof, top trajectory methods stay within single-digit percent (set8 excluded).</a:t>
            </a:r>
          </a:p>
        </p:txBody>
      </p:sp>
      <p:sp>
        <p:nvSpPr>
          <p:cNvPr id="8" name="!!mega_number"/>
          <p:cNvSpPr/>
          <p:nvPr/>
        </p:nvSpPr>
        <p:spPr>
          <a:xfrm>
            <a:off x="548640" y="2331720"/>
            <a:ext cx="6400800" cy="3931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!!data_grid" descr="fig7_gap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888" y="2331720"/>
            <a:ext cx="4248303" cy="3931920"/>
          </a:xfrm>
          <a:prstGeom prst="rect">
            <a:avLst/>
          </a:prstGeom>
          <a:effectLst>
            <a:outerShdw blurRad="127000" dist="38100" dir="5400000" rotWithShape="0">
              <a:srgbClr val="0B2545">
                <a:alpha val="16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548640" y="621792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280"/>
                </a:solidFill>
                <a:latin typeface="Calibri"/>
              </a:rPr>
              <a:t>Gap heatmap — (algo_soft / ip_soft − 1) × 100 %, sorted by mean gap.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331720"/>
            <a:ext cx="432785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4A63F"/>
                </a:solidFill>
                <a:latin typeface="Calibri"/>
              </a:rPr>
              <a:t>HEADLINE GAPS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0" y="2715768"/>
            <a:ext cx="4327855" cy="347472"/>
          </a:xfrm>
          <a:prstGeom prst="rect">
            <a:avLst/>
          </a:prstGeom>
          <a:solidFill>
            <a:srgbClr val="F3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315200" y="2715768"/>
            <a:ext cx="54864" cy="34747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98080" y="2715768"/>
            <a:ext cx="238032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B2545"/>
                </a:solidFill>
                <a:latin typeface="Georgia"/>
              </a:rPr>
              <a:t>Tabu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5520" y="2715768"/>
            <a:ext cx="1726259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1" i="0">
                <a:solidFill>
                  <a:srgbClr val="0B2545"/>
                </a:solidFill>
                <a:latin typeface="Georgia"/>
              </a:rPr>
              <a:t>+2.7 %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3099816"/>
            <a:ext cx="4327855" cy="347472"/>
          </a:xfrm>
          <a:prstGeom prst="rect">
            <a:avLst/>
          </a:prstGeom>
          <a:solidFill>
            <a:srgbClr val="F3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315200" y="3099816"/>
            <a:ext cx="54864" cy="34747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498080" y="3099816"/>
            <a:ext cx="238032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B2545"/>
                </a:solidFill>
                <a:latin typeface="Georgia"/>
              </a:rPr>
              <a:t>GVNS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5520" y="3099816"/>
            <a:ext cx="1726259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1" i="0">
                <a:solidFill>
                  <a:srgbClr val="0B2545"/>
                </a:solidFill>
                <a:latin typeface="Georgia"/>
              </a:rPr>
              <a:t>+4.1 %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0" y="3483864"/>
            <a:ext cx="4327855" cy="347472"/>
          </a:xfrm>
          <a:prstGeom prst="rect">
            <a:avLst/>
          </a:prstGeom>
          <a:solidFill>
            <a:srgbClr val="F3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315200" y="3483864"/>
            <a:ext cx="54864" cy="34747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498080" y="3483864"/>
            <a:ext cx="238032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B2545"/>
                </a:solidFill>
                <a:latin typeface="Georgia"/>
              </a:rPr>
              <a:t>Kempe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5520" y="3483864"/>
            <a:ext cx="1726259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1" i="0">
                <a:solidFill>
                  <a:srgbClr val="0B2545"/>
                </a:solidFill>
                <a:latin typeface="Georgia"/>
              </a:rPr>
              <a:t>+8.5 %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3867912"/>
            <a:ext cx="4327855" cy="347472"/>
          </a:xfrm>
          <a:prstGeom prst="rect">
            <a:avLst/>
          </a:prstGeom>
          <a:solidFill>
            <a:srgbClr val="F3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315200" y="3867912"/>
            <a:ext cx="54864" cy="347472"/>
          </a:xfrm>
          <a:prstGeom prst="rect">
            <a:avLst/>
          </a:prstGeom>
          <a:solidFill>
            <a:srgbClr val="D24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498080" y="3867912"/>
            <a:ext cx="238032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D24938"/>
                </a:solidFill>
                <a:latin typeface="Georgia"/>
              </a:rPr>
              <a:t>ABC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5520" y="3867912"/>
            <a:ext cx="1726259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1" i="0">
                <a:solidFill>
                  <a:srgbClr val="0B2545"/>
                </a:solidFill>
                <a:latin typeface="Georgia"/>
              </a:rPr>
              <a:t>+9.3 %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0" y="4251960"/>
            <a:ext cx="4327855" cy="347472"/>
          </a:xfrm>
          <a:prstGeom prst="rect">
            <a:avLst/>
          </a:prstGeom>
          <a:solidFill>
            <a:srgbClr val="F3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315200" y="4251960"/>
            <a:ext cx="54864" cy="34747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498080" y="4251960"/>
            <a:ext cx="238032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B2545"/>
                </a:solidFill>
                <a:latin typeface="Georgia"/>
              </a:rPr>
              <a:t>ALNS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5520" y="4251960"/>
            <a:ext cx="1726259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1" i="0">
                <a:solidFill>
                  <a:srgbClr val="0B2545"/>
                </a:solidFill>
                <a:latin typeface="Georgia"/>
              </a:rPr>
              <a:t>+12.1 %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0" y="4636008"/>
            <a:ext cx="4327855" cy="347472"/>
          </a:xfrm>
          <a:prstGeom prst="rect">
            <a:avLst/>
          </a:prstGeom>
          <a:solidFill>
            <a:srgbClr val="F3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7315200" y="4636008"/>
            <a:ext cx="54864" cy="34747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498080" y="4636008"/>
            <a:ext cx="238032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B2545"/>
                </a:solidFill>
                <a:latin typeface="Georgia"/>
              </a:rPr>
              <a:t>SA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5520" y="4636008"/>
            <a:ext cx="1726259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1" i="0">
                <a:solidFill>
                  <a:srgbClr val="0B2545"/>
                </a:solidFill>
                <a:latin typeface="Georgia"/>
              </a:rPr>
              <a:t>+45.7 %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0" y="5184648"/>
            <a:ext cx="4327855" cy="1078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1">
                <a:solidFill>
                  <a:srgbClr val="1F2937"/>
                </a:solidFill>
                <a:latin typeface="Calibri"/>
              </a:rPr>
              <a:t>Tabu — the within-family winner on the heatmap — is also closest to the proven optimum. On instances where CP-SAT can return a proof, trajectory methods come within a few percent for a tiny fraction of the runtime.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page_counter"/>
          <p:cNvSpPr txBox="1"/>
          <p:nvPr/>
        </p:nvSpPr>
        <p:spPr>
          <a:xfrm>
            <a:off x="9265615" y="4572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1">
                <a:solidFill>
                  <a:srgbClr val="6B7280"/>
                </a:solidFill>
                <a:latin typeface="Georgia"/>
              </a:rPr>
              <a:t>№ 14 / 16</a:t>
            </a:r>
          </a:p>
        </p:txBody>
      </p:sp>
      <p:sp>
        <p:nvSpPr>
          <p:cNvPr id="3" name="!!bar_title"/>
          <p:cNvSpPr txBox="1"/>
          <p:nvPr/>
        </p:nvSpPr>
        <p:spPr>
          <a:xfrm>
            <a:off x="548640" y="502920"/>
            <a:ext cx="8686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0B2545"/>
                </a:solidFill>
                <a:latin typeface="Georgia"/>
              </a:rPr>
              <a:t>Full leaderboard</a:t>
            </a:r>
          </a:p>
        </p:txBody>
      </p:sp>
      <p:sp>
        <p:nvSpPr>
          <p:cNvPr id="4" name="!!bar_rule"/>
          <p:cNvSpPr/>
          <p:nvPr/>
        </p:nvSpPr>
        <p:spPr>
          <a:xfrm>
            <a:off x="548640" y="1078992"/>
            <a:ext cx="320040" cy="3810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!!bar_kicker"/>
          <p:cNvSpPr txBox="1"/>
          <p:nvPr/>
        </p:nvSpPr>
        <p:spPr>
          <a:xfrm>
            <a:off x="1005840" y="10058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RESULTS  ·  ALL 13 ON 8 INSTANCES</a:t>
            </a:r>
          </a:p>
        </p:txBody>
      </p:sp>
      <p:sp>
        <p:nvSpPr>
          <p:cNvPr id="6" name="!!footer_byline"/>
          <p:cNvSpPr txBox="1"/>
          <p:nvPr/>
        </p:nvSpPr>
        <p:spPr>
          <a:xfrm>
            <a:off x="548640" y="6537960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6B7280"/>
                </a:solidFill>
                <a:latin typeface="Calibri"/>
              </a:rPr>
              <a:t>Exam Timetabling at Scale  ·  Le &amp; Cronin  ·  ITC 2007</a:t>
            </a:r>
          </a:p>
        </p:txBody>
      </p:sp>
      <p:sp>
        <p:nvSpPr>
          <p:cNvPr id="7" name="!!headline"/>
          <p:cNvSpPr txBox="1"/>
          <p:nvPr/>
        </p:nvSpPr>
        <p:spPr>
          <a:xfrm>
            <a:off x="548640" y="15087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F2937"/>
                </a:solidFill>
                <a:latin typeface="Georgia"/>
              </a:rPr>
              <a:t>Mean soft penalty over 3 seeds, across all eight ITC 2007 sets, sorted by mean rank.</a:t>
            </a:r>
          </a:p>
        </p:txBody>
      </p:sp>
      <p:graphicFrame>
        <p:nvGraphicFramePr>
          <p:cNvPr id="8" name="!!data_grid"/>
          <p:cNvGraphicFramePr>
            <a:graphicFrameLocks noGrp="1"/>
          </p:cNvGraphicFramePr>
          <p:nvPr/>
        </p:nvGraphicFramePr>
        <p:xfrm>
          <a:off x="548640" y="2103120"/>
          <a:ext cx="11064237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00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37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37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37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37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379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379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379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379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379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682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Algo</a:t>
                      </a:r>
                    </a:p>
                  </a:txBody>
                  <a:tcPr marL="73152" marR="73152" marT="36576" marB="36576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 marL="73152" marR="73152" marT="36576" marB="36576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 marL="73152" marR="73152" marT="36576" marB="36576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s3</a:t>
                      </a:r>
                    </a:p>
                  </a:txBody>
                  <a:tcPr marL="73152" marR="73152" marT="36576" marB="36576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s4</a:t>
                      </a:r>
                    </a:p>
                  </a:txBody>
                  <a:tcPr marL="73152" marR="73152" marT="36576" marB="36576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 marL="73152" marR="73152" marT="36576" marB="36576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s6</a:t>
                      </a:r>
                    </a:p>
                  </a:txBody>
                  <a:tcPr marL="73152" marR="73152" marT="36576" marB="36576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 marL="73152" marR="73152" marT="36576" marB="36576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s8</a:t>
                      </a:r>
                    </a:p>
                  </a:txBody>
                  <a:tcPr marL="73152" marR="73152" marT="36576" marB="36576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 marL="73152" marR="73152" marT="36576" marB="36576" anchor="ctr"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82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GVNS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10 614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2 364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21 941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25 305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5 424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31 634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9 357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13 970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D24938"/>
                          </a:solidFill>
                          <a:latin typeface="Calibri"/>
                        </a:rPr>
                        <a:t>1.88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82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Tabu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8 740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2 740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25 558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33 163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5 789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30 733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8 043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12 972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D24938"/>
                          </a:solidFill>
                          <a:latin typeface="Calibri"/>
                        </a:rPr>
                        <a:t>2.38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82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Kempe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12 383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2 211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25 189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23 999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10 975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31 449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10 938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14 923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D24938"/>
                          </a:solidFill>
                          <a:latin typeface="Calibri"/>
                        </a:rPr>
                        <a:t>3.50</a:t>
                      </a:r>
                    </a:p>
                  </a:txBody>
                  <a:tcPr marL="73152" marR="73152" marT="36576" marB="36576" anchor="ctr">
                    <a:solidFill>
                      <a:srgbClr val="FDF6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82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D24938"/>
                          </a:solidFill>
                          <a:latin typeface="Calibri"/>
                        </a:rPr>
                        <a:t>ABC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13 663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2 841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23 287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28 365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5 995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33 081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9 592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14 339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3.75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82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D24938"/>
                          </a:solidFill>
                          <a:latin typeface="Calibri"/>
                        </a:rPr>
                        <a:t>WOA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13 862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3 578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30 832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34 807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11 086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33 160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10 386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14 332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5.88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82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937"/>
                          </a:solidFill>
                          <a:latin typeface="Calibri"/>
                        </a:rPr>
                        <a:t>CP-SAT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14 715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3 628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25 611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47 735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6 428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35 336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10 137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14 084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6.25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82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LAHC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15 267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3 952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33 516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32 594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12 893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33 057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12 979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15 202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6.62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82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SA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16 249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6 613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40 625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32 225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29 308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33 144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21 832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19 954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8.00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82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ALNS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11 252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3 117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159 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45 419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43 657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36 662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16 186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17 420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8.25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82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D24938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27 975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7 544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43 496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38 595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13 046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41 681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13 158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22 823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9.38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82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2545"/>
                          </a:solidFill>
                          <a:latin typeface="Calibri"/>
                        </a:rPr>
                        <a:t>GD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41 973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130 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173 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35 701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330 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39 173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115 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526 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82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D24938"/>
                          </a:solidFill>
                          <a:latin typeface="Calibri"/>
                        </a:rPr>
                        <a:t>HHO+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54 546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123 k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154 k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41 154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264 k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48 776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152 k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323 k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11.12</a:t>
                      </a:r>
                    </a:p>
                  </a:txBody>
                  <a:tcPr marL="73152" marR="73152" marT="36576" marB="36576"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82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D4A63F"/>
                          </a:solidFill>
                          <a:latin typeface="Calibri"/>
                        </a:rPr>
                        <a:t>Greedy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68 678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183 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277 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62 720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412 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68 625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267 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575 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82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937"/>
                          </a:solidFill>
                          <a:latin typeface="Calibri"/>
                        </a:rPr>
                        <a:t>IP†</a:t>
                      </a:r>
                    </a:p>
                  </a:txBody>
                  <a:tcPr marL="73152" marR="73152" marT="36576" marB="36576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8 509</a:t>
                      </a:r>
                    </a:p>
                  </a:txBody>
                  <a:tcPr marL="73152" marR="73152" marT="36576" marB="36576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2 604</a:t>
                      </a:r>
                    </a:p>
                  </a:txBody>
                  <a:tcPr marL="73152" marR="73152" marT="36576" marB="36576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28 162</a:t>
                      </a:r>
                    </a:p>
                  </a:txBody>
                  <a:tcPr marL="73152" marR="73152" marT="36576" marB="36576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27 710</a:t>
                      </a:r>
                    </a:p>
                  </a:txBody>
                  <a:tcPr marL="73152" marR="73152" marT="36576" marB="36576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25‡</a:t>
                      </a:r>
                    </a:p>
                  </a:txBody>
                  <a:tcPr marL="73152" marR="73152" marT="36576" marB="36576" anchor="ctr">
                    <a:solidFill>
                      <a:srgbClr val="E8EE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F29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E8EE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336792"/>
            <a:ext cx="182880" cy="109728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6263640"/>
            <a:ext cx="1143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F2937"/>
                </a:solidFill>
                <a:latin typeface="Calibri"/>
              </a:rPr>
              <a:t>Trajectory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65960" y="6336792"/>
            <a:ext cx="182880" cy="109728"/>
          </a:xfrm>
          <a:prstGeom prst="rect">
            <a:avLst/>
          </a:prstGeom>
          <a:solidFill>
            <a:srgbClr val="D24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240280" y="6263640"/>
            <a:ext cx="1143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F2937"/>
                </a:solidFill>
                <a:latin typeface="Calibri"/>
              </a:rPr>
              <a:t>Population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6336792"/>
            <a:ext cx="182880" cy="109728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0" y="6263640"/>
            <a:ext cx="1143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F2937"/>
                </a:solidFill>
                <a:latin typeface="Calibri"/>
              </a:rPr>
              <a:t>Construction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00600" y="6336792"/>
            <a:ext cx="182880" cy="10972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74920" y="6263640"/>
            <a:ext cx="1143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F2937"/>
                </a:solidFill>
                <a:latin typeface="Calibri"/>
              </a:rPr>
              <a:t>Exact / Hybrid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0975" y="6263640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1">
                <a:solidFill>
                  <a:srgbClr val="6B7280"/>
                </a:solidFill>
                <a:latin typeface="Calibri"/>
              </a:rPr>
              <a:t>†  IP† = CP-SAT full-converge (reference row, not a 14th algo).  ‡  set8 = evaluator-scale anomaly.</a:t>
            </a:r>
          </a:p>
        </p:txBody>
      </p:sp>
      <p:sp>
        <p:nvSpPr>
          <p:cNvPr id="18" name="!!finding_01"/>
          <p:cNvSpPr/>
          <p:nvPr/>
        </p:nvSpPr>
        <p:spPr>
          <a:xfrm rot="240000">
            <a:off x="-10552176" y="1691640"/>
            <a:ext cx="10186416" cy="914400"/>
          </a:xfrm>
          <a:prstGeom prst="rect">
            <a:avLst/>
          </a:prstGeom>
          <a:solidFill>
            <a:srgbClr val="F3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!!finding_02"/>
          <p:cNvSpPr/>
          <p:nvPr/>
        </p:nvSpPr>
        <p:spPr>
          <a:xfrm rot="330000">
            <a:off x="-10872216" y="2651760"/>
            <a:ext cx="10186416" cy="914400"/>
          </a:xfrm>
          <a:prstGeom prst="rect">
            <a:avLst/>
          </a:prstGeom>
          <a:solidFill>
            <a:srgbClr val="F3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!!finding_03"/>
          <p:cNvSpPr/>
          <p:nvPr/>
        </p:nvSpPr>
        <p:spPr>
          <a:xfrm rot="420000">
            <a:off x="-11192256" y="3611880"/>
            <a:ext cx="10186416" cy="914400"/>
          </a:xfrm>
          <a:prstGeom prst="rect">
            <a:avLst/>
          </a:prstGeom>
          <a:solidFill>
            <a:srgbClr val="F3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!!finding_04"/>
          <p:cNvSpPr/>
          <p:nvPr/>
        </p:nvSpPr>
        <p:spPr>
          <a:xfrm rot="510000">
            <a:off x="-11512295" y="4572000"/>
            <a:ext cx="10186416" cy="914400"/>
          </a:xfrm>
          <a:prstGeom prst="rect">
            <a:avLst/>
          </a:prstGeom>
          <a:solidFill>
            <a:srgbClr val="F3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!!finding_05"/>
          <p:cNvSpPr/>
          <p:nvPr/>
        </p:nvSpPr>
        <p:spPr>
          <a:xfrm rot="600000">
            <a:off x="-11832335" y="5532120"/>
            <a:ext cx="10186416" cy="914400"/>
          </a:xfrm>
          <a:prstGeom prst="rect">
            <a:avLst/>
          </a:prstGeom>
          <a:solidFill>
            <a:srgbClr val="F3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page_counter"/>
          <p:cNvSpPr txBox="1"/>
          <p:nvPr/>
        </p:nvSpPr>
        <p:spPr>
          <a:xfrm>
            <a:off x="9265615" y="4572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1">
                <a:solidFill>
                  <a:srgbClr val="6B7280"/>
                </a:solidFill>
                <a:latin typeface="Georgia"/>
              </a:rPr>
              <a:t>№ 15 / 16</a:t>
            </a:r>
          </a:p>
        </p:txBody>
      </p:sp>
      <p:sp>
        <p:nvSpPr>
          <p:cNvPr id="3" name="!!bar_title"/>
          <p:cNvSpPr txBox="1"/>
          <p:nvPr/>
        </p:nvSpPr>
        <p:spPr>
          <a:xfrm>
            <a:off x="548640" y="502920"/>
            <a:ext cx="8686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0B2545"/>
                </a:solidFill>
                <a:latin typeface="Georgia"/>
              </a:rPr>
              <a:t>What this work contributes</a:t>
            </a:r>
          </a:p>
        </p:txBody>
      </p:sp>
      <p:sp>
        <p:nvSpPr>
          <p:cNvPr id="4" name="!!bar_rule"/>
          <p:cNvSpPr/>
          <p:nvPr/>
        </p:nvSpPr>
        <p:spPr>
          <a:xfrm>
            <a:off x="548640" y="1078992"/>
            <a:ext cx="320040" cy="3810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!!bar_kicker"/>
          <p:cNvSpPr txBox="1"/>
          <p:nvPr/>
        </p:nvSpPr>
        <p:spPr>
          <a:xfrm>
            <a:off x="1005840" y="10058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TAKEAWAYS</a:t>
            </a:r>
          </a:p>
        </p:txBody>
      </p:sp>
      <p:sp>
        <p:nvSpPr>
          <p:cNvPr id="6" name="!!footer_byline"/>
          <p:cNvSpPr txBox="1"/>
          <p:nvPr/>
        </p:nvSpPr>
        <p:spPr>
          <a:xfrm>
            <a:off x="548640" y="6537960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6B7280"/>
                </a:solidFill>
                <a:latin typeface="Calibri"/>
              </a:rPr>
              <a:t>Exam Timetabling at Scale  ·  Le &amp; Cronin  ·  ITC 2007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640080" cy="9144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6400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Georgia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1691640"/>
            <a:ext cx="54864" cy="9144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!!finding_01"/>
          <p:cNvSpPr/>
          <p:nvPr/>
        </p:nvSpPr>
        <p:spPr>
          <a:xfrm>
            <a:off x="1426464" y="1691640"/>
            <a:ext cx="10186416" cy="914400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01600" dist="25400" dir="5400000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591056" y="1764792"/>
            <a:ext cx="993038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B2545"/>
                </a:solidFill>
                <a:latin typeface="Georgia"/>
              </a:rPr>
              <a:t>Trajectory methods dominate.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2075688"/>
            <a:ext cx="993038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Tabu, GVNS, and Kempe own the Pareto frontier. Tabu wins 4-of-8 intra-family slots and sits within +2.7 % of the CP-SAT optimum.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51760"/>
            <a:ext cx="640080" cy="914400"/>
          </a:xfrm>
          <a:prstGeom prst="rect">
            <a:avLst/>
          </a:prstGeom>
          <a:solidFill>
            <a:srgbClr val="D24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2651760"/>
            <a:ext cx="6400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Georgia"/>
              </a:rPr>
              <a:t>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0" y="2651760"/>
            <a:ext cx="54864" cy="914400"/>
          </a:xfrm>
          <a:prstGeom prst="rect">
            <a:avLst/>
          </a:prstGeom>
          <a:solidFill>
            <a:srgbClr val="D24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!!finding_02"/>
          <p:cNvSpPr/>
          <p:nvPr/>
        </p:nvSpPr>
        <p:spPr>
          <a:xfrm>
            <a:off x="1426464" y="2651760"/>
            <a:ext cx="10186416" cy="914400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01600" dist="25400" dir="5400000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591056" y="2724912"/>
            <a:ext cx="993038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D24938"/>
                </a:solidFill>
                <a:latin typeface="Georgia"/>
              </a:rPr>
              <a:t>Population methods are a distant second.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3035808"/>
            <a:ext cx="993038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ABC is the best of the Population family (7-of-8 intra-family wins) but lags Trajectory by 5–15 % on tight instances.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611880"/>
            <a:ext cx="640080" cy="9144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3611880"/>
            <a:ext cx="6400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Georgia"/>
              </a:rPr>
              <a:t>03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71600" y="3611880"/>
            <a:ext cx="54864" cy="9144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!!finding_03"/>
          <p:cNvSpPr/>
          <p:nvPr/>
        </p:nvSpPr>
        <p:spPr>
          <a:xfrm>
            <a:off x="1426464" y="3611880"/>
            <a:ext cx="10186416" cy="914400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01600" dist="25400" dir="5400000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591056" y="3685032"/>
            <a:ext cx="993038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F2937"/>
                </a:solidFill>
                <a:latin typeface="Georgia"/>
              </a:rPr>
              <a:t>Exact solvers have a reliability cliff at ~900 exams.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995928"/>
            <a:ext cx="993038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CP-SAT solves every instance under 870 exams and times out on every instance over 934. Heuristics are not merely faster — they are the only option on the upper half of ITC 2007.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572000"/>
            <a:ext cx="640080" cy="91440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8640" y="4572000"/>
            <a:ext cx="6400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Georgia"/>
              </a:rPr>
              <a:t>04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0" y="4572000"/>
            <a:ext cx="54864" cy="91440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!!finding_04"/>
          <p:cNvSpPr/>
          <p:nvPr/>
        </p:nvSpPr>
        <p:spPr>
          <a:xfrm>
            <a:off x="1426464" y="4572000"/>
            <a:ext cx="10186416" cy="914400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01600" dist="25400" dir="5400000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591056" y="4645152"/>
            <a:ext cx="993038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D4A63F"/>
                </a:solidFill>
                <a:latin typeface="Georgia"/>
              </a:rPr>
              <a:t>Warm-start chains beat monoculture.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91056" y="4956048"/>
            <a:ext cx="993038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Chain-finder discovers alns → kempe → tabu as the champion: diversify, then repair, then polish — shorter and better than any single algorithm alone.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532120"/>
            <a:ext cx="640080" cy="9144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48640" y="5532120"/>
            <a:ext cx="6400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Georgia"/>
              </a:rPr>
              <a:t>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71600" y="5532120"/>
            <a:ext cx="54864" cy="9144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!!finding_05"/>
          <p:cNvSpPr/>
          <p:nvPr/>
        </p:nvSpPr>
        <p:spPr>
          <a:xfrm>
            <a:off x="1426464" y="5532120"/>
            <a:ext cx="10186416" cy="914400"/>
          </a:xfrm>
          <a:prstGeom prst="rect">
            <a:avLst/>
          </a:prstGeom>
          <a:solidFill>
            <a:srgbClr val="F3EEE2"/>
          </a:solidFill>
          <a:ln>
            <a:noFill/>
          </a:ln>
          <a:effectLst>
            <a:outerShdw blurRad="101600" dist="25400" dir="5400000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591056" y="5605272"/>
            <a:ext cx="9930384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B2545"/>
                </a:solidFill>
                <a:latin typeface="Georgia"/>
              </a:rPr>
              <a:t>A single C++20 solver with Δ-eval makes this comparison honest.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91056" y="5916168"/>
            <a:ext cx="993038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Every algorithm runs under identical timing, neighborhood, and evaluator code — no cross-implementation bias.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kicker_rail"/>
          <p:cNvSpPr/>
          <p:nvPr/>
        </p:nvSpPr>
        <p:spPr>
          <a:xfrm>
            <a:off x="548640" y="457200"/>
            <a:ext cx="1280160" cy="3810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!!kicker_text"/>
          <p:cNvSpPr txBox="1"/>
          <p:nvPr/>
        </p:nvSpPr>
        <p:spPr>
          <a:xfrm>
            <a:off x="205740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D4A63F"/>
                </a:solidFill>
                <a:latin typeface="Calibri"/>
              </a:rPr>
              <a:t>CLOSING   ·   QUESTIONS &amp; DISCUSSION</a:t>
            </a:r>
          </a:p>
        </p:txBody>
      </p:sp>
      <p:sp>
        <p:nvSpPr>
          <p:cNvPr id="4" name="!!page_counter"/>
          <p:cNvSpPr txBox="1"/>
          <p:nvPr/>
        </p:nvSpPr>
        <p:spPr>
          <a:xfrm>
            <a:off x="9814255" y="32004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0" i="1">
                <a:solidFill>
                  <a:srgbClr val="A5A092"/>
                </a:solidFill>
                <a:latin typeface="Georgia"/>
              </a:rPr>
              <a:t>№ 16 / 16</a:t>
            </a:r>
          </a:p>
        </p:txBody>
      </p:sp>
      <p:sp>
        <p:nvSpPr>
          <p:cNvPr id="5" name="!!footer_byline"/>
          <p:cNvSpPr txBox="1"/>
          <p:nvPr/>
        </p:nvSpPr>
        <p:spPr>
          <a:xfrm>
            <a:off x="548640" y="6537960"/>
            <a:ext cx="10058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A5A092"/>
                </a:solidFill>
                <a:latin typeface="Calibri"/>
              </a:rPr>
              <a:t>Exam Timetabling at Scale  ·  Le &amp; Cronin  ·  ITC 2007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051560"/>
            <a:ext cx="12191695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5400" b="1" i="0">
                <a:solidFill>
                  <a:srgbClr val="F5EFE1"/>
                </a:solidFill>
                <a:latin typeface="Georgia"/>
              </a:rPr>
              <a:t>Thank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874519"/>
            <a:ext cx="121916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1">
                <a:solidFill>
                  <a:srgbClr val="A5A092"/>
                </a:solidFill>
                <a:latin typeface="Georgia"/>
              </a:rPr>
              <a:t>Questions   ·   Discussion   ·   Code review</a:t>
            </a:r>
          </a:p>
        </p:txBody>
      </p:sp>
      <p:sp>
        <p:nvSpPr>
          <p:cNvPr id="8" name="Rectangle 7"/>
          <p:cNvSpPr/>
          <p:nvPr/>
        </p:nvSpPr>
        <p:spPr>
          <a:xfrm>
            <a:off x="5730087" y="2423160"/>
            <a:ext cx="731520" cy="25400"/>
          </a:xfrm>
          <a:prstGeom prst="rect">
            <a:avLst/>
          </a:prstGeom>
          <a:solidFill>
            <a:srgbClr val="D4A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65176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D4A63F"/>
                </a:solidFill>
                <a:latin typeface="Calibri"/>
              </a:rPr>
              <a:t>REFERENCES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17520"/>
            <a:ext cx="5364327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A5A092"/>
                </a:solidFill>
                <a:latin typeface="Georgia"/>
              </a:rPr>
              <a:t>[1]  Burke, E. &amp; Bykov, Y. (2008). “A Late Acceptance Strategy in Hill-Climbing for Exam Timetabling Problems.”  PATAT.</a:t>
            </a:r>
          </a:p>
          <a:p>
            <a:pPr algn="l">
              <a:lnSpc>
                <a:spcPct val="130000"/>
              </a:lnSpc>
            </a:pPr>
            <a:endParaRPr sz="1000" b="0" i="0">
              <a:solidFill>
                <a:srgbClr val="A5A092"/>
              </a:solidFill>
              <a:latin typeface="Georgia"/>
            </a:endParaRP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A5A092"/>
                </a:solidFill>
                <a:latin typeface="Georgia"/>
              </a:rPr>
              <a:t>[2]  Dueck, G. (1993). “New Optimization Heuristics: The Great Deluge Algorithm and the Record-to-Record Travel.”  J. Computational Physics, 104(1), 86–92.</a:t>
            </a:r>
          </a:p>
          <a:p>
            <a:pPr algn="l">
              <a:lnSpc>
                <a:spcPct val="130000"/>
              </a:lnSpc>
            </a:pPr>
            <a:endParaRPr sz="1000" b="0" i="0">
              <a:solidFill>
                <a:srgbClr val="A5A092"/>
              </a:solidFill>
              <a:latin typeface="Georgia"/>
            </a:endParaRP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A5A092"/>
                </a:solidFill>
                <a:latin typeface="Georgia"/>
              </a:rPr>
              <a:t>[3]  Glover, F. (1989). “Tabu Search — Part I.”  ORSA J. on Computing, 1(3), 190–206.</a:t>
            </a:r>
          </a:p>
          <a:p>
            <a:pPr algn="l">
              <a:lnSpc>
                <a:spcPct val="130000"/>
              </a:lnSpc>
            </a:pPr>
            <a:endParaRPr sz="1000" b="0" i="0">
              <a:solidFill>
                <a:srgbClr val="A5A092"/>
              </a:solidFill>
              <a:latin typeface="Georgia"/>
            </a:endParaRP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A5A092"/>
                </a:solidFill>
                <a:latin typeface="Georgia"/>
              </a:rPr>
              <a:t>[4]  Hansen, P. &amp; Mladenović, N. (2001). “Variable Neighborhood Search: Principles &amp; Applications.”  European J. Oper. Res., 130(3), 449–467.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8727" y="3017520"/>
            <a:ext cx="5364327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A5A092"/>
                </a:solidFill>
                <a:latin typeface="Georgia"/>
              </a:rPr>
              <a:t>[5]  Karaboga, D. (2005). “An Idea Based on Honey Bee Swarm for Numerical Optimization.”  Tech. Rep. TR06, Erciyes Univ.</a:t>
            </a:r>
          </a:p>
          <a:p>
            <a:pPr algn="l">
              <a:lnSpc>
                <a:spcPct val="130000"/>
              </a:lnSpc>
            </a:pPr>
            <a:endParaRPr sz="1000" b="0" i="0">
              <a:solidFill>
                <a:srgbClr val="A5A092"/>
              </a:solidFill>
              <a:latin typeface="Georgia"/>
            </a:endParaRP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A5A092"/>
                </a:solidFill>
                <a:latin typeface="Georgia"/>
              </a:rPr>
              <a:t>[6]  Kirkpatrick, S., Gelatt, C. &amp; Vecchi, M. (1983). “Optimization by Simulated Annealing.”  Science, 220(4598), 671–680.</a:t>
            </a:r>
          </a:p>
          <a:p>
            <a:pPr algn="l">
              <a:lnSpc>
                <a:spcPct val="130000"/>
              </a:lnSpc>
            </a:pPr>
            <a:endParaRPr sz="1000" b="0" i="0">
              <a:solidFill>
                <a:srgbClr val="A5A092"/>
              </a:solidFill>
              <a:latin typeface="Georgia"/>
            </a:endParaRP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A5A092"/>
                </a:solidFill>
                <a:latin typeface="Georgia"/>
              </a:rPr>
              <a:t>[7]  McCollum, B. et al. (2010). “Setting the Research Agenda in Automated Timetabling: ITC2.”  INFORMS J. Computing, 22(1), 120–130. — ITC 2007 dataset &amp; evaluator.</a:t>
            </a:r>
          </a:p>
          <a:p>
            <a:pPr algn="l">
              <a:lnSpc>
                <a:spcPct val="130000"/>
              </a:lnSpc>
            </a:pPr>
            <a:endParaRPr sz="1000" b="0" i="0">
              <a:solidFill>
                <a:srgbClr val="A5A092"/>
              </a:solidFill>
              <a:latin typeface="Georgia"/>
            </a:endParaRP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A5A092"/>
                </a:solidFill>
                <a:latin typeface="Georgia"/>
              </a:rPr>
              <a:t>[8]  Perron, L. &amp; Furnon, V. (2024). OR-Tools CP-SAT Solver.  Google. developers.google.com/optimization.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12967" y="6053328"/>
            <a:ext cx="365760" cy="19050"/>
          </a:xfrm>
          <a:prstGeom prst="rect">
            <a:avLst/>
          </a:prstGeom>
          <a:solidFill>
            <a:srgbClr val="A5A0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0" y="6144768"/>
            <a:ext cx="121916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A5A092"/>
                </a:solidFill>
                <a:latin typeface="Georgia"/>
              </a:rPr>
              <a:t>GenAI assistance (Claude, ChatGPT) used throughout: brainstorming, code, plotting, analysis, slide drafting.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0" y="6446520"/>
            <a:ext cx="121916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5EFE1"/>
                </a:solidFill>
                <a:latin typeface="Calibri"/>
              </a:rPr>
              <a:t>github.com/Dialovos/exam-scheduling-algos-analyze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2534</Words>
  <Application>Microsoft Office PowerPoint</Application>
  <PresentationFormat>Widescreen</PresentationFormat>
  <Paragraphs>532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Hoang Le</cp:lastModifiedBy>
  <cp:revision>1</cp:revision>
  <dcterms:created xsi:type="dcterms:W3CDTF">2013-01-27T09:14:16Z</dcterms:created>
  <dcterms:modified xsi:type="dcterms:W3CDTF">2026-04-27T20:08:40Z</dcterms:modified>
  <cp:category/>
</cp:coreProperties>
</file>